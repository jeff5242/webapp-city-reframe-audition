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67" r:id="rId2"/>
    <p:sldId id="268" r:id="rId3"/>
    <p:sldId id="264" r:id="rId4"/>
    <p:sldId id="276" r:id="rId5"/>
    <p:sldId id="273" r:id="rId6"/>
    <p:sldId id="278" r:id="rId7"/>
    <p:sldId id="274" r:id="rId8"/>
    <p:sldId id="292" r:id="rId9"/>
    <p:sldId id="257" r:id="rId10"/>
    <p:sldId id="293" r:id="rId11"/>
    <p:sldId id="294" r:id="rId12"/>
    <p:sldId id="296" r:id="rId13"/>
    <p:sldId id="298" r:id="rId14"/>
    <p:sldId id="304" r:id="rId15"/>
    <p:sldId id="275" r:id="rId16"/>
    <p:sldId id="280" r:id="rId17"/>
    <p:sldId id="300" r:id="rId18"/>
    <p:sldId id="297" r:id="rId19"/>
    <p:sldId id="281" r:id="rId20"/>
    <p:sldId id="303" r:id="rId21"/>
    <p:sldId id="301" r:id="rId22"/>
    <p:sldId id="279" r:id="rId23"/>
    <p:sldId id="302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71" r:id="rId3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CCF5"/>
    <a:srgbClr val="FF9A00"/>
    <a:srgbClr val="FD5647"/>
    <a:srgbClr val="2749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90"/>
    <p:restoredTop sz="91508" autoAdjust="0"/>
  </p:normalViewPr>
  <p:slideViewPr>
    <p:cSldViewPr snapToGrid="0">
      <p:cViewPr varScale="1">
        <p:scale>
          <a:sx n="78" d="100"/>
          <a:sy n="78" d="100"/>
        </p:scale>
        <p:origin x="37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6" d="100"/>
          <a:sy n="156" d="100"/>
        </p:scale>
        <p:origin x="447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臺北市辦理都市更新案件數統計表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報核中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110年</c:v>
                </c:pt>
                <c:pt idx="1">
                  <c:v>111年</c:v>
                </c:pt>
                <c:pt idx="2">
                  <c:v>112年</c:v>
                </c:pt>
                <c:pt idx="3">
                  <c:v>113年</c:v>
                </c:pt>
                <c:pt idx="4">
                  <c:v>114年</c:v>
                </c:pt>
              </c:strCache>
            </c:str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197</c:v>
                </c:pt>
                <c:pt idx="1">
                  <c:v>219</c:v>
                </c:pt>
                <c:pt idx="2">
                  <c:v>259</c:v>
                </c:pt>
                <c:pt idx="3">
                  <c:v>338</c:v>
                </c:pt>
                <c:pt idx="4">
                  <c:v>411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98-4D73-9EE3-DDCC0AD571C6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本年核定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110年</c:v>
                </c:pt>
                <c:pt idx="1">
                  <c:v>111年</c:v>
                </c:pt>
                <c:pt idx="2">
                  <c:v>112年</c:v>
                </c:pt>
                <c:pt idx="3">
                  <c:v>113年</c:v>
                </c:pt>
                <c:pt idx="4">
                  <c:v>114年</c:v>
                </c:pt>
              </c:strCache>
            </c:strRef>
          </c:cat>
          <c:val>
            <c:numRef>
              <c:f>工作表1!$C$2:$C$6</c:f>
              <c:numCache>
                <c:formatCode>General</c:formatCode>
                <c:ptCount val="5"/>
                <c:pt idx="0">
                  <c:v>40</c:v>
                </c:pt>
                <c:pt idx="1">
                  <c:v>40</c:v>
                </c:pt>
                <c:pt idx="2">
                  <c:v>39</c:v>
                </c:pt>
                <c:pt idx="3">
                  <c:v>37</c:v>
                </c:pt>
                <c:pt idx="4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E98-4D73-9EE3-DDCC0AD571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8170728"/>
        <c:axId val="488166048"/>
      </c:lineChart>
      <c:catAx>
        <c:axId val="488170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88166048"/>
        <c:crosses val="autoZero"/>
        <c:auto val="1"/>
        <c:lblAlgn val="ctr"/>
        <c:lblOffset val="100"/>
        <c:noMultiLvlLbl val="0"/>
      </c:catAx>
      <c:valAx>
        <c:axId val="488166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88170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新北市辦理都市更新案件數統計表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報核中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110年</c:v>
                </c:pt>
                <c:pt idx="1">
                  <c:v>111年</c:v>
                </c:pt>
                <c:pt idx="2">
                  <c:v>112年</c:v>
                </c:pt>
                <c:pt idx="3">
                  <c:v>113年</c:v>
                </c:pt>
                <c:pt idx="4">
                  <c:v>114年</c:v>
                </c:pt>
              </c:strCache>
            </c:str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129</c:v>
                </c:pt>
                <c:pt idx="1">
                  <c:v>144</c:v>
                </c:pt>
                <c:pt idx="2">
                  <c:v>177</c:v>
                </c:pt>
                <c:pt idx="3">
                  <c:v>215</c:v>
                </c:pt>
                <c:pt idx="4">
                  <c:v>232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98-4D73-9EE3-DDCC0AD571C6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本年核定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工作表1!$A$2:$A$6</c:f>
              <c:strCache>
                <c:ptCount val="5"/>
                <c:pt idx="0">
                  <c:v>110年</c:v>
                </c:pt>
                <c:pt idx="1">
                  <c:v>111年</c:v>
                </c:pt>
                <c:pt idx="2">
                  <c:v>112年</c:v>
                </c:pt>
                <c:pt idx="3">
                  <c:v>113年</c:v>
                </c:pt>
                <c:pt idx="4">
                  <c:v>114年</c:v>
                </c:pt>
              </c:strCache>
            </c:strRef>
          </c:cat>
          <c:val>
            <c:numRef>
              <c:f>工作表1!$C$2:$C$6</c:f>
              <c:numCache>
                <c:formatCode>General</c:formatCode>
                <c:ptCount val="5"/>
                <c:pt idx="0">
                  <c:v>11</c:v>
                </c:pt>
                <c:pt idx="1">
                  <c:v>20</c:v>
                </c:pt>
                <c:pt idx="2">
                  <c:v>28</c:v>
                </c:pt>
                <c:pt idx="3">
                  <c:v>25</c:v>
                </c:pt>
                <c:pt idx="4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E98-4D73-9EE3-DDCC0AD571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8170728"/>
        <c:axId val="488166048"/>
      </c:lineChart>
      <c:catAx>
        <c:axId val="488170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88166048"/>
        <c:crosses val="autoZero"/>
        <c:auto val="1"/>
        <c:lblAlgn val="ctr"/>
        <c:lblOffset val="100"/>
        <c:noMultiLvlLbl val="0"/>
      </c:catAx>
      <c:valAx>
        <c:axId val="488166048"/>
        <c:scaling>
          <c:orientation val="minMax"/>
          <c:max val="4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488170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CEAB5-3F15-6640-AD92-C96AF6400168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C0966-6DAA-A944-BE17-AEB52D1DF51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75884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臺北市都更案件數佔比最高，新北市次之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6C0966-6DAA-A944-BE17-AEB52D1DF51D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584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臺北市近五年每年核定都市更新案件數量穩定</a:t>
            </a:r>
            <a:r>
              <a:rPr lang="en-US" altLang="zh-TW" dirty="0"/>
              <a:t>&lt;=40</a:t>
            </a:r>
            <a:r>
              <a:rPr lang="zh-TW" altLang="en-US" dirty="0"/>
              <a:t>，但報核中案件數量持續增加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6C0966-6DAA-A944-BE17-AEB52D1DF51D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64081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新北市近五年每年核定都市更新案件數量穩定</a:t>
            </a:r>
            <a:r>
              <a:rPr lang="en-US" altLang="zh-TW" dirty="0"/>
              <a:t>&lt;=30</a:t>
            </a:r>
            <a:r>
              <a:rPr lang="zh-TW" altLang="en-US" dirty="0"/>
              <a:t>，但報核中案件數量持續增加，增加幅度僅略低於臺北市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6C0966-6DAA-A944-BE17-AEB52D1DF51D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34763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C00000"/>
                </a:solidFill>
              </a:rPr>
              <a:t>都更</a:t>
            </a:r>
            <a:r>
              <a:rPr lang="en-US" altLang="zh-TW" dirty="0">
                <a:solidFill>
                  <a:srgbClr val="C00000"/>
                </a:solidFill>
              </a:rPr>
              <a:t>168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&amp; </a:t>
            </a:r>
            <a:r>
              <a:rPr lang="zh-TW" altLang="en-US" dirty="0">
                <a:solidFill>
                  <a:srgbClr val="C00000"/>
                </a:solidFill>
              </a:rPr>
              <a:t>都更</a:t>
            </a:r>
            <a:r>
              <a:rPr lang="en-US" altLang="zh-TW" dirty="0">
                <a:solidFill>
                  <a:srgbClr val="C00000"/>
                </a:solidFill>
              </a:rPr>
              <a:t>150</a:t>
            </a:r>
            <a:r>
              <a:rPr lang="zh-TW" altLang="en-US" dirty="0">
                <a:solidFill>
                  <a:srgbClr val="C00000"/>
                </a:solidFill>
              </a:rPr>
              <a:t>專案：符合</a:t>
            </a:r>
            <a:r>
              <a:rPr lang="en-US" altLang="zh-TW" dirty="0">
                <a:solidFill>
                  <a:srgbClr val="C00000"/>
                </a:solidFill>
              </a:rPr>
              <a:t>100%</a:t>
            </a:r>
            <a:r>
              <a:rPr lang="zh-TW" altLang="en-US" dirty="0">
                <a:solidFill>
                  <a:srgbClr val="C00000"/>
                </a:solidFill>
              </a:rPr>
              <a:t>同意及特定條件，審議時程縮短</a:t>
            </a:r>
            <a:endParaRPr lang="en-US" altLang="zh-TW" dirty="0">
              <a:solidFill>
                <a:srgbClr val="C0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6C0966-6DAA-A944-BE17-AEB52D1DF51D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5776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6C0966-6DAA-A944-BE17-AEB52D1DF51D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44830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_亮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字型, 圖形, 螢幕擷取畫面 的圖片&#10;&#10;AI 產生的內容可能不正確。">
            <a:extLst>
              <a:ext uri="{FF2B5EF4-FFF2-40B4-BE49-F238E27FC236}">
                <a16:creationId xmlns:a16="http://schemas.microsoft.com/office/drawing/2014/main" id="{A49C412C-6F78-E53B-0BE8-209505F3F6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3873" y="568021"/>
            <a:ext cx="5351983" cy="97366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A1BDAEA-CDBB-F7B0-975F-2126370B09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 l="-931" t="250" r="3286" b="-250"/>
          <a:stretch>
            <a:fillRect/>
          </a:stretch>
        </p:blipFill>
        <p:spPr>
          <a:xfrm>
            <a:off x="200241" y="0"/>
            <a:ext cx="11991759" cy="6858000"/>
          </a:xfrm>
          <a:prstGeom prst="rect">
            <a:avLst/>
          </a:prstGeom>
        </p:spPr>
      </p:pic>
      <p:pic>
        <p:nvPicPr>
          <p:cNvPr id="16" name="圖片 15" descr="一張含有 螢幕擷取畫面, 藍色, 水, 光線 的圖片&#10;&#10;AI 產生的內容可能不正確。">
            <a:extLst>
              <a:ext uri="{FF2B5EF4-FFF2-40B4-BE49-F238E27FC236}">
                <a16:creationId xmlns:a16="http://schemas.microsoft.com/office/drawing/2014/main" id="{D393F2B4-41A1-5327-2A88-CDCC007AB0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215579" cy="687126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45EB18C-D4EC-FDED-5164-4E22BC8A805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3873" y="1853049"/>
            <a:ext cx="6737837" cy="2617698"/>
          </a:xfrm>
          <a:effectLst>
            <a:outerShdw blurRad="76200" dist="38100" dir="2700000" algn="tl" rotWithShape="0">
              <a:prstClr val="black">
                <a:alpha val="66000"/>
              </a:prstClr>
            </a:outerShdw>
          </a:effectLst>
        </p:spPr>
        <p:txBody>
          <a:bodyPr vert="horz" anchor="ctr" anchorCtr="0">
            <a:normAutofit/>
          </a:bodyPr>
          <a:lstStyle>
            <a:lvl1pPr algn="l">
              <a:lnSpc>
                <a:spcPct val="100000"/>
              </a:lnSpc>
              <a:defRPr sz="5400" b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kumimoji="1" lang="en-US" altLang="zh-TW" dirty="0"/>
              <a:t>Welcome to  Aivid</a:t>
            </a:r>
            <a:endParaRPr kumimoji="1" lang="zh-TW" altLang="en-US" dirty="0"/>
          </a:p>
        </p:txBody>
      </p:sp>
      <p:sp>
        <p:nvSpPr>
          <p:cNvPr id="10" name="文字版面配置區 3">
            <a:extLst>
              <a:ext uri="{FF2B5EF4-FFF2-40B4-BE49-F238E27FC236}">
                <a16:creationId xmlns:a16="http://schemas.microsoft.com/office/drawing/2014/main" id="{945666C1-932F-6B0A-2EF7-366817D0B7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0529" y="5106242"/>
            <a:ext cx="2877211" cy="442784"/>
          </a:xfrm>
        </p:spPr>
        <p:txBody>
          <a:bodyPr anchor="t" anchorCtr="0">
            <a:noAutofit/>
          </a:bodyPr>
          <a:lstStyle>
            <a:lvl1pPr>
              <a:buNone/>
              <a:defRPr sz="2400" b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zh-TW" altLang="en-US" dirty="0"/>
              <a:t>姓 名</a:t>
            </a:r>
          </a:p>
        </p:txBody>
      </p:sp>
      <p:sp>
        <p:nvSpPr>
          <p:cNvPr id="11" name="文字版面配置區 4">
            <a:extLst>
              <a:ext uri="{FF2B5EF4-FFF2-40B4-BE49-F238E27FC236}">
                <a16:creationId xmlns:a16="http://schemas.microsoft.com/office/drawing/2014/main" id="{6C6C9684-E2C4-CECE-3390-8E5287AC9F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00529" y="5605401"/>
            <a:ext cx="2877211" cy="335756"/>
          </a:xfrm>
        </p:spPr>
        <p:txBody>
          <a:bodyPr anchor="t" anchorCtr="0">
            <a:noAutofit/>
          </a:bodyPr>
          <a:lstStyle>
            <a:lvl1pPr>
              <a:buNone/>
              <a:defRPr sz="1600" b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en-US" altLang="zh-TW" dirty="0"/>
              <a:t>2025</a:t>
            </a:r>
            <a:r>
              <a:rPr kumimoji="1" lang="zh-TW" altLang="en-US" dirty="0"/>
              <a:t> 年</a:t>
            </a:r>
            <a:r>
              <a:rPr kumimoji="1" lang="en-US" altLang="zh-TW" dirty="0"/>
              <a:t> 12</a:t>
            </a:r>
            <a:r>
              <a:rPr kumimoji="1" lang="zh-TW" altLang="en-US" dirty="0"/>
              <a:t> 月</a:t>
            </a:r>
            <a:r>
              <a:rPr kumimoji="1" lang="en-US" altLang="zh-TW" dirty="0"/>
              <a:t> 01</a:t>
            </a:r>
            <a:r>
              <a:rPr kumimoji="1" lang="zh-TW" altLang="en-US" dirty="0"/>
              <a:t> 日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7BC93CB-21EF-3CE0-0F15-F169E4258B4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04278" y="6401329"/>
            <a:ext cx="3980570" cy="23852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lvl="0" algn="l"/>
            <a:r>
              <a:rPr lang="en-US" altLang="zh-TW" sz="900" b="0" i="0" dirty="0">
                <a:solidFill>
                  <a:schemeClr val="bg1">
                    <a:lumMod val="75000"/>
                  </a:schemeClr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Copyright © 2025 Aivid Technology Inc. All rights reserved.</a:t>
            </a:r>
            <a:endParaRPr kumimoji="1" lang="zh-TW" altLang="en-US" sz="900" dirty="0">
              <a:solidFill>
                <a:schemeClr val="bg1">
                  <a:lumMod val="7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74701578-9318-44FF-0048-C5DA53DD0B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873" y="568021"/>
            <a:ext cx="3564808" cy="907406"/>
          </a:xfrm>
          <a:prstGeom prst="rect">
            <a:avLst/>
          </a:prstGeom>
        </p:spPr>
      </p:pic>
      <p:sp>
        <p:nvSpPr>
          <p:cNvPr id="14" name="文字版面配置區 12">
            <a:extLst>
              <a:ext uri="{FF2B5EF4-FFF2-40B4-BE49-F238E27FC236}">
                <a16:creationId xmlns:a16="http://schemas.microsoft.com/office/drawing/2014/main" id="{D94AC437-35EE-BD4F-9F41-2C096E5082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3873" y="5158620"/>
            <a:ext cx="903077" cy="338554"/>
          </a:xfrm>
        </p:spPr>
        <p:txBody>
          <a:bodyPr/>
          <a:lstStyle>
            <a:lvl1pPr algn="l" rtl="0" eaLnBrk="1" latinLnBrk="0" hangingPunct="1">
              <a:lnSpc>
                <a:spcPct val="100000"/>
              </a:lnSpc>
              <a:buNone/>
              <a:defRPr kumimoji="1" lang="en-US" altLang="zh-TW" sz="1600" b="0" smtClean="0">
                <a:solidFill>
                  <a:srgbClr val="60CCF5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rtl="0" eaLnBrk="1" latinLnBrk="0" hangingPunct="1"/>
            <a:r>
              <a:rPr kumimoji="1" lang="zh-TW" altLang="zh-TW" sz="1600" b="0" kern="1200" dirty="0">
                <a:solidFill>
                  <a:srgbClr val="61CBF4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簡報人 </a:t>
            </a:r>
            <a:r>
              <a:rPr kumimoji="1" lang="en-US" altLang="zh-TW" sz="1600" b="0" kern="1200" dirty="0">
                <a:solidFill>
                  <a:srgbClr val="61CBF4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: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52721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_暗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字型, 圖形, 螢幕擷取畫面 的圖片&#10;&#10;AI 產生的內容可能不正確。">
            <a:extLst>
              <a:ext uri="{FF2B5EF4-FFF2-40B4-BE49-F238E27FC236}">
                <a16:creationId xmlns:a16="http://schemas.microsoft.com/office/drawing/2014/main" id="{A49C412C-6F78-E53B-0BE8-209505F3F6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3873" y="568021"/>
            <a:ext cx="5351983" cy="973665"/>
          </a:xfrm>
          <a:prstGeom prst="rect">
            <a:avLst/>
          </a:prstGeom>
        </p:spPr>
      </p:pic>
      <p:pic>
        <p:nvPicPr>
          <p:cNvPr id="7" name="圖片 6" descr="一張含有 螢幕擷取畫面, 黑暗, 雷射, 光線 的圖片&#10;&#10;AI 產生的內容可能不正確。">
            <a:extLst>
              <a:ext uri="{FF2B5EF4-FFF2-40B4-BE49-F238E27FC236}">
                <a16:creationId xmlns:a16="http://schemas.microsoft.com/office/drawing/2014/main" id="{338B628C-F12D-A5EA-0E35-82B7D9FB49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 r="5296"/>
          <a:stretch>
            <a:fillRect/>
          </a:stretch>
        </p:blipFill>
        <p:spPr>
          <a:xfrm>
            <a:off x="539013" y="0"/>
            <a:ext cx="11652987" cy="6871262"/>
          </a:xfrm>
          <a:prstGeom prst="rect">
            <a:avLst/>
          </a:prstGeom>
        </p:spPr>
      </p:pic>
      <p:pic>
        <p:nvPicPr>
          <p:cNvPr id="16" name="圖片 15" descr="一張含有 螢幕擷取畫面, 藍色, 水, 光線 的圖片&#10;&#10;AI 產生的內容可能不正確。">
            <a:extLst>
              <a:ext uri="{FF2B5EF4-FFF2-40B4-BE49-F238E27FC236}">
                <a16:creationId xmlns:a16="http://schemas.microsoft.com/office/drawing/2014/main" id="{D393F2B4-41A1-5327-2A88-CDCC007AB0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215579" cy="687126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45EB18C-D4EC-FDED-5164-4E22BC8A805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3873" y="1853049"/>
            <a:ext cx="6737837" cy="2617698"/>
          </a:xfrm>
          <a:effectLst>
            <a:outerShdw blurRad="76200" dist="38100" dir="2700000" algn="tl" rotWithShape="0">
              <a:prstClr val="black">
                <a:alpha val="66000"/>
              </a:prstClr>
            </a:outerShdw>
          </a:effectLst>
        </p:spPr>
        <p:txBody>
          <a:bodyPr vert="horz" anchor="ctr" anchorCtr="0">
            <a:normAutofit/>
          </a:bodyPr>
          <a:lstStyle>
            <a:lvl1pPr algn="l">
              <a:lnSpc>
                <a:spcPct val="100000"/>
              </a:lnSpc>
              <a:defRPr sz="5400" b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kumimoji="1" lang="en-US" altLang="zh-TW" dirty="0"/>
              <a:t>Welcome to  Aivid</a:t>
            </a:r>
            <a:endParaRPr kumimoji="1" lang="zh-TW" altLang="en-US" dirty="0"/>
          </a:p>
        </p:txBody>
      </p:sp>
      <p:sp>
        <p:nvSpPr>
          <p:cNvPr id="10" name="文字版面配置區 3">
            <a:extLst>
              <a:ext uri="{FF2B5EF4-FFF2-40B4-BE49-F238E27FC236}">
                <a16:creationId xmlns:a16="http://schemas.microsoft.com/office/drawing/2014/main" id="{945666C1-932F-6B0A-2EF7-366817D0B7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0529" y="5106242"/>
            <a:ext cx="2877211" cy="442784"/>
          </a:xfrm>
        </p:spPr>
        <p:txBody>
          <a:bodyPr>
            <a:noAutofit/>
          </a:bodyPr>
          <a:lstStyle>
            <a:lvl1pPr>
              <a:buNone/>
              <a:defRPr sz="2400" b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zh-TW" altLang="en-US" dirty="0"/>
              <a:t>姓 名</a:t>
            </a:r>
          </a:p>
        </p:txBody>
      </p:sp>
      <p:sp>
        <p:nvSpPr>
          <p:cNvPr id="11" name="文字版面配置區 4">
            <a:extLst>
              <a:ext uri="{FF2B5EF4-FFF2-40B4-BE49-F238E27FC236}">
                <a16:creationId xmlns:a16="http://schemas.microsoft.com/office/drawing/2014/main" id="{6C6C9684-E2C4-CECE-3390-8E5287AC9F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00529" y="5605401"/>
            <a:ext cx="2877211" cy="335756"/>
          </a:xfrm>
        </p:spPr>
        <p:txBody>
          <a:bodyPr>
            <a:noAutofit/>
          </a:bodyPr>
          <a:lstStyle>
            <a:lvl1pPr>
              <a:buNone/>
              <a:defRPr sz="1600" b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en-US" altLang="zh-TW" dirty="0"/>
              <a:t>2025</a:t>
            </a:r>
            <a:r>
              <a:rPr kumimoji="1" lang="zh-TW" altLang="en-US" dirty="0"/>
              <a:t> 年</a:t>
            </a:r>
            <a:r>
              <a:rPr kumimoji="1" lang="en-US" altLang="zh-TW" dirty="0"/>
              <a:t> 12</a:t>
            </a:r>
            <a:r>
              <a:rPr kumimoji="1" lang="zh-TW" altLang="en-US" dirty="0"/>
              <a:t> 月</a:t>
            </a:r>
            <a:r>
              <a:rPr kumimoji="1" lang="en-US" altLang="zh-TW" dirty="0"/>
              <a:t> 01</a:t>
            </a:r>
            <a:r>
              <a:rPr kumimoji="1" lang="zh-TW" altLang="en-US" dirty="0"/>
              <a:t> 日</a:t>
            </a:r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1C4C3E97-05B3-5997-156C-A77E3919251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873" y="568021"/>
            <a:ext cx="3564808" cy="90740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021A9C0-DE93-C707-BA57-E2AF46C77B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04278" y="6401329"/>
            <a:ext cx="3980570" cy="23852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lvl="0" algn="l"/>
            <a:r>
              <a:rPr lang="en-US" altLang="zh-TW" sz="900" b="0" i="0" dirty="0">
                <a:solidFill>
                  <a:schemeClr val="bg1">
                    <a:lumMod val="75000"/>
                  </a:schemeClr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Copyright © 2025 Aivid Technology Inc. All rights reserved.</a:t>
            </a:r>
            <a:endParaRPr kumimoji="1" lang="zh-TW" altLang="en-US" sz="900" dirty="0">
              <a:solidFill>
                <a:schemeClr val="bg1">
                  <a:lumMod val="7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文字版面配置區 12">
            <a:extLst>
              <a:ext uri="{FF2B5EF4-FFF2-40B4-BE49-F238E27FC236}">
                <a16:creationId xmlns:a16="http://schemas.microsoft.com/office/drawing/2014/main" id="{A6186F91-F9CA-1D78-625C-3EC08FE281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3873" y="5158620"/>
            <a:ext cx="903077" cy="338554"/>
          </a:xfrm>
        </p:spPr>
        <p:txBody>
          <a:bodyPr/>
          <a:lstStyle>
            <a:lvl1pPr algn="l" rtl="0" eaLnBrk="1" latinLnBrk="0" hangingPunct="1">
              <a:lnSpc>
                <a:spcPct val="100000"/>
              </a:lnSpc>
              <a:buNone/>
              <a:defRPr kumimoji="1" lang="en-US" altLang="zh-TW" sz="1600" b="0" smtClean="0">
                <a:solidFill>
                  <a:srgbClr val="60CCF5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rtl="0" eaLnBrk="1" latinLnBrk="0" hangingPunct="1"/>
            <a:r>
              <a:rPr kumimoji="1" lang="zh-TW" altLang="zh-TW" sz="1600" b="0" kern="1200" dirty="0">
                <a:solidFill>
                  <a:srgbClr val="61CBF4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簡報人 </a:t>
            </a:r>
            <a:r>
              <a:rPr kumimoji="1" lang="en-US" altLang="zh-TW" sz="1600" b="0" kern="1200" dirty="0">
                <a:solidFill>
                  <a:srgbClr val="61CBF4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: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855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（自訂底圖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5EB18C-D4EC-FDED-5164-4E22BC8A805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3873" y="1853049"/>
            <a:ext cx="6737837" cy="2617698"/>
          </a:xfrm>
          <a:effectLst>
            <a:outerShdw blurRad="76200" dist="38100" dir="2700000" algn="tl" rotWithShape="0">
              <a:prstClr val="black">
                <a:alpha val="66000"/>
              </a:prstClr>
            </a:outerShdw>
          </a:effectLst>
        </p:spPr>
        <p:txBody>
          <a:bodyPr vert="horz" anchor="ctr" anchorCtr="0">
            <a:normAutofit/>
          </a:bodyPr>
          <a:lstStyle>
            <a:lvl1pPr algn="l">
              <a:lnSpc>
                <a:spcPct val="100000"/>
              </a:lnSpc>
              <a:defRPr sz="5400" b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kumimoji="1" lang="en-US" altLang="zh-TW" dirty="0"/>
              <a:t>Welcome to  Aivid</a:t>
            </a:r>
            <a:endParaRPr kumimoji="1" lang="zh-TW" altLang="en-US" dirty="0"/>
          </a:p>
        </p:txBody>
      </p:sp>
      <p:sp>
        <p:nvSpPr>
          <p:cNvPr id="10" name="文字版面配置區 3">
            <a:extLst>
              <a:ext uri="{FF2B5EF4-FFF2-40B4-BE49-F238E27FC236}">
                <a16:creationId xmlns:a16="http://schemas.microsoft.com/office/drawing/2014/main" id="{945666C1-932F-6B0A-2EF7-366817D0B7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0529" y="5106242"/>
            <a:ext cx="2877211" cy="442784"/>
          </a:xfrm>
        </p:spPr>
        <p:txBody>
          <a:bodyPr>
            <a:noAutofit/>
          </a:bodyPr>
          <a:lstStyle>
            <a:lvl1pPr>
              <a:buNone/>
              <a:defRPr sz="2400" b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zh-TW" altLang="en-US" dirty="0"/>
              <a:t>姓 名</a:t>
            </a:r>
          </a:p>
        </p:txBody>
      </p:sp>
      <p:sp>
        <p:nvSpPr>
          <p:cNvPr id="11" name="文字版面配置區 4">
            <a:extLst>
              <a:ext uri="{FF2B5EF4-FFF2-40B4-BE49-F238E27FC236}">
                <a16:creationId xmlns:a16="http://schemas.microsoft.com/office/drawing/2014/main" id="{6C6C9684-E2C4-CECE-3390-8E5287AC9F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00529" y="5605401"/>
            <a:ext cx="2877211" cy="335756"/>
          </a:xfrm>
        </p:spPr>
        <p:txBody>
          <a:bodyPr>
            <a:noAutofit/>
          </a:bodyPr>
          <a:lstStyle>
            <a:lvl1pPr>
              <a:buNone/>
              <a:defRPr sz="1600" b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kumimoji="1" lang="en-US" altLang="zh-TW" dirty="0"/>
              <a:t>2025</a:t>
            </a:r>
            <a:r>
              <a:rPr kumimoji="1" lang="zh-TW" altLang="en-US" dirty="0"/>
              <a:t> 年</a:t>
            </a:r>
            <a:r>
              <a:rPr kumimoji="1" lang="en-US" altLang="zh-TW" dirty="0"/>
              <a:t> 12</a:t>
            </a:r>
            <a:r>
              <a:rPr kumimoji="1" lang="zh-TW" altLang="en-US" dirty="0"/>
              <a:t> 月</a:t>
            </a:r>
            <a:r>
              <a:rPr kumimoji="1" lang="en-US" altLang="zh-TW" dirty="0"/>
              <a:t> 01</a:t>
            </a:r>
            <a:r>
              <a:rPr kumimoji="1" lang="zh-TW" altLang="en-US" dirty="0"/>
              <a:t> 日</a:t>
            </a:r>
          </a:p>
        </p:txBody>
      </p:sp>
      <p:pic>
        <p:nvPicPr>
          <p:cNvPr id="6" name="圖片 5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5C1EE383-1E8C-74E1-AC69-91AF64D3F9C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3873" y="568021"/>
            <a:ext cx="3564808" cy="907406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957C1D1-87BB-AEA0-F993-BB209C191E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04278" y="6401329"/>
            <a:ext cx="3980570" cy="23852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lvl="0" algn="l"/>
            <a:r>
              <a:rPr lang="en-US" altLang="zh-TW" sz="900" b="0" i="0" dirty="0">
                <a:solidFill>
                  <a:schemeClr val="bg1">
                    <a:lumMod val="75000"/>
                  </a:schemeClr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Copyright © 2025 Aivid Technology Inc. All rights reserved.</a:t>
            </a:r>
            <a:endParaRPr kumimoji="1" lang="zh-TW" altLang="en-US" sz="900" dirty="0">
              <a:solidFill>
                <a:schemeClr val="bg1">
                  <a:lumMod val="7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文字版面配置區 12">
            <a:extLst>
              <a:ext uri="{FF2B5EF4-FFF2-40B4-BE49-F238E27FC236}">
                <a16:creationId xmlns:a16="http://schemas.microsoft.com/office/drawing/2014/main" id="{53D4DFEF-375B-0CF1-CAA5-378D5D492A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3873" y="5158620"/>
            <a:ext cx="903077" cy="338554"/>
          </a:xfrm>
        </p:spPr>
        <p:txBody>
          <a:bodyPr/>
          <a:lstStyle>
            <a:lvl1pPr algn="l" rtl="0" eaLnBrk="1" latinLnBrk="0" hangingPunct="1">
              <a:lnSpc>
                <a:spcPct val="100000"/>
              </a:lnSpc>
              <a:buNone/>
              <a:defRPr kumimoji="1" lang="en-US" altLang="zh-TW" sz="1600" b="0" smtClean="0">
                <a:solidFill>
                  <a:srgbClr val="60CCF5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rtl="0" eaLnBrk="1" latinLnBrk="0" hangingPunct="1"/>
            <a:r>
              <a:rPr kumimoji="1" lang="zh-TW" altLang="zh-TW" sz="1600" b="0" kern="1200" dirty="0">
                <a:solidFill>
                  <a:srgbClr val="61CBF4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簡報人 </a:t>
            </a:r>
            <a:r>
              <a:rPr kumimoji="1" lang="en-US" altLang="zh-TW" sz="1600" b="0" kern="1200" dirty="0">
                <a:solidFill>
                  <a:srgbClr val="61CBF4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: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0888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 descr="一張含有 螢幕擷取畫面, 洋紅色, 音樂 的圖片&#10;&#10;AI 產生的內容可能不正確。">
            <a:extLst>
              <a:ext uri="{FF2B5EF4-FFF2-40B4-BE49-F238E27FC236}">
                <a16:creationId xmlns:a16="http://schemas.microsoft.com/office/drawing/2014/main" id="{AC79D804-AF6C-1CBF-EA53-5DDC43AA73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投影片編號版面配置區 6">
            <a:extLst>
              <a:ext uri="{FF2B5EF4-FFF2-40B4-BE49-F238E27FC236}">
                <a16:creationId xmlns:a16="http://schemas.microsoft.com/office/drawing/2014/main" id="{E2B49CD2-B23B-8A41-1BE2-DA97664045AC}"/>
              </a:ext>
            </a:extLst>
          </p:cNvPr>
          <p:cNvSpPr txBox="1">
            <a:spLocks/>
          </p:cNvSpPr>
          <p:nvPr userDrawn="1"/>
        </p:nvSpPr>
        <p:spPr>
          <a:xfrm>
            <a:off x="10835639" y="6356350"/>
            <a:ext cx="1100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69592EE-2C1C-C248-9ECE-5D6CD30E81E9}" type="slidenum">
              <a:rPr kumimoji="1" lang="zh-TW" altLang="en-US" sz="2000" i="1" smtClean="0"/>
              <a:pPr/>
              <a:t>‹#›</a:t>
            </a:fld>
            <a:endParaRPr kumimoji="1" lang="zh-TW" altLang="en-US" sz="2000" i="1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764273B-2DBF-CA08-A708-A33A329ED5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571" y="885445"/>
            <a:ext cx="6450037" cy="2150928"/>
          </a:xfrm>
          <a:effectLst>
            <a:outerShdw blurRad="76200" dist="38100" dir="2700000" algn="tl" rotWithShape="0">
              <a:prstClr val="black">
                <a:alpha val="66000"/>
              </a:prstClr>
            </a:outerShdw>
          </a:effectLst>
        </p:spPr>
        <p:txBody>
          <a:bodyPr anchor="b" anchorCtr="0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kumimoji="1" lang="zh-TW" altLang="en-US" dirty="0"/>
              <a:t>按一下以編輯大綱標題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CD332A45-32DE-5CDE-E24D-367A39B9B9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0571" y="3493455"/>
            <a:ext cx="10784293" cy="2945562"/>
          </a:xfrm>
        </p:spPr>
        <p:txBody>
          <a:bodyPr>
            <a:noAutofit/>
          </a:bodyPr>
          <a:lstStyle>
            <a:lvl1pPr>
              <a:defRPr sz="2800" spc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按一下以編輯分項主題</a:t>
            </a:r>
            <a:endParaRPr kumimoji="1" lang="en-US" altLang="zh-TW" dirty="0"/>
          </a:p>
          <a:p>
            <a:pPr lvl="0"/>
            <a:endParaRPr kumimoji="1" lang="zh-TW" altLang="en-US" dirty="0"/>
          </a:p>
        </p:txBody>
      </p:sp>
      <p:pic>
        <p:nvPicPr>
          <p:cNvPr id="10" name="圖片 9" descr="一張含有 文字, 字型, 圖形, 標誌 的圖片&#10;&#10;AI 產生的內容可能不正確。">
            <a:extLst>
              <a:ext uri="{FF2B5EF4-FFF2-40B4-BE49-F238E27FC236}">
                <a16:creationId xmlns:a16="http://schemas.microsoft.com/office/drawing/2014/main" id="{E606EACE-922A-1FF7-9F5E-EAA1CFB7C3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3757" y="186619"/>
            <a:ext cx="2153471" cy="40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7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一張含有 天空, 霧, 摩天大樓, 螢幕擷取畫面 的圖片&#10;&#10;AI 產生的內容可能不正確。">
            <a:extLst>
              <a:ext uri="{FF2B5EF4-FFF2-40B4-BE49-F238E27FC236}">
                <a16:creationId xmlns:a16="http://schemas.microsoft.com/office/drawing/2014/main" id="{49D0BC33-94DD-0C3C-7CA6-1E4D4BACA0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投影片編號版面配置區 6">
            <a:extLst>
              <a:ext uri="{FF2B5EF4-FFF2-40B4-BE49-F238E27FC236}">
                <a16:creationId xmlns:a16="http://schemas.microsoft.com/office/drawing/2014/main" id="{E2B49CD2-B23B-8A41-1BE2-DA97664045AC}"/>
              </a:ext>
            </a:extLst>
          </p:cNvPr>
          <p:cNvSpPr txBox="1">
            <a:spLocks/>
          </p:cNvSpPr>
          <p:nvPr userDrawn="1"/>
        </p:nvSpPr>
        <p:spPr>
          <a:xfrm>
            <a:off x="10835639" y="6356350"/>
            <a:ext cx="1100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69592EE-2C1C-C248-9ECE-5D6CD30E81E9}" type="slidenum">
              <a:rPr kumimoji="1" lang="zh-TW" altLang="en-US" sz="2000" i="1" smtClean="0"/>
              <a:pPr/>
              <a:t>‹#›</a:t>
            </a:fld>
            <a:endParaRPr kumimoji="1" lang="zh-TW" altLang="en-US" sz="2000" i="1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764273B-2DBF-CA08-A708-A33A329ED5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5296" y="769025"/>
            <a:ext cx="7589568" cy="1832571"/>
          </a:xfrm>
          <a:effectLst>
            <a:outerShdw blurRad="38100" dist="12700" dir="2700000" algn="tl" rotWithShape="0">
              <a:prstClr val="black">
                <a:alpha val="15000"/>
              </a:prstClr>
            </a:outerShdw>
          </a:effectLst>
        </p:spPr>
        <p:txBody>
          <a:bodyPr anchor="b" anchorCtr="0">
            <a:normAutofit/>
          </a:bodyPr>
          <a:lstStyle>
            <a:lvl1pPr>
              <a:defRPr sz="4000" b="1">
                <a:solidFill>
                  <a:srgbClr val="27498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kumimoji="1" lang="zh-TW" altLang="en-US" dirty="0"/>
              <a:t>按一下以編輯大綱標題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CD332A45-32DE-5CDE-E24D-367A39B9B9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95296" y="2690949"/>
            <a:ext cx="7589568" cy="3748068"/>
          </a:xfrm>
        </p:spPr>
        <p:txBody>
          <a:bodyPr>
            <a:noAutofit/>
          </a:bodyPr>
          <a:lstStyle>
            <a:lvl1pPr>
              <a:defRPr sz="2800" spc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按一下以編輯分項主題</a:t>
            </a:r>
            <a:endParaRPr kumimoji="1" lang="en-US" altLang="zh-TW" dirty="0"/>
          </a:p>
          <a:p>
            <a:pPr lvl="0"/>
            <a:endParaRPr kumimoji="1" lang="zh-TW" altLang="en-US" dirty="0"/>
          </a:p>
        </p:txBody>
      </p:sp>
      <p:pic>
        <p:nvPicPr>
          <p:cNvPr id="7" name="圖片 6" descr="一張含有 文字, 字型, 圖形, 標誌 的圖片&#10;&#10;AI 產生的內容可能不正確。">
            <a:extLst>
              <a:ext uri="{FF2B5EF4-FFF2-40B4-BE49-F238E27FC236}">
                <a16:creationId xmlns:a16="http://schemas.microsoft.com/office/drawing/2014/main" id="{E2A6D9CA-B0E2-CD51-65D8-A46B50F07DD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3757" y="186619"/>
            <a:ext cx="2153471" cy="40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4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32757D9-1EBB-6071-9508-B42CDA1E4A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5150" cy="6858000"/>
          </a:xfrm>
          <a:prstGeom prst="rect">
            <a:avLst/>
          </a:prstGeom>
        </p:spPr>
      </p:pic>
      <p:pic>
        <p:nvPicPr>
          <p:cNvPr id="9" name="圖片 8" descr="一張含有 螢幕擷取畫面, 設計 的圖片&#10;&#10;AI 產生的內容可能不正確。">
            <a:extLst>
              <a:ext uri="{FF2B5EF4-FFF2-40B4-BE49-F238E27FC236}">
                <a16:creationId xmlns:a16="http://schemas.microsoft.com/office/drawing/2014/main" id="{AC6F8A54-10CF-E673-D213-FD8943AC92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6B785549-A3F5-7C57-8A75-0A2BFF8DBF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805" y="586872"/>
            <a:ext cx="10646664" cy="6680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>
                <a:solidFill>
                  <a:srgbClr val="28498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kumimoji="1" lang="zh-TW" altLang="en-US" dirty="0"/>
              <a:t>按一下以編輯內頁標題</a:t>
            </a: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15FF9D4F-0900-CED4-92B1-31CB8D7F698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30610"/>
            <a:ext cx="10646664" cy="510840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5pPr>
          </a:lstStyle>
          <a:p>
            <a:pPr lvl="0"/>
            <a:r>
              <a:rPr kumimoji="1" lang="zh-TW" altLang="en-US" dirty="0"/>
              <a:t>按一下以編輯文字樣式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16" name="投影片編號版面配置區 6">
            <a:extLst>
              <a:ext uri="{FF2B5EF4-FFF2-40B4-BE49-F238E27FC236}">
                <a16:creationId xmlns:a16="http://schemas.microsoft.com/office/drawing/2014/main" id="{E2B49CD2-B23B-8A41-1BE2-DA97664045AC}"/>
              </a:ext>
            </a:extLst>
          </p:cNvPr>
          <p:cNvSpPr txBox="1">
            <a:spLocks/>
          </p:cNvSpPr>
          <p:nvPr userDrawn="1"/>
        </p:nvSpPr>
        <p:spPr>
          <a:xfrm>
            <a:off x="10835639" y="6356350"/>
            <a:ext cx="1100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69592EE-2C1C-C248-9ECE-5D6CD30E81E9}" type="slidenum">
              <a:rPr kumimoji="1" lang="zh-TW" altLang="en-US" sz="2000" i="1" smtClean="0"/>
              <a:pPr/>
              <a:t>‹#›</a:t>
            </a:fld>
            <a:endParaRPr kumimoji="1" lang="zh-TW" altLang="en-US" sz="2000" i="1" dirty="0"/>
          </a:p>
        </p:txBody>
      </p:sp>
      <p:pic>
        <p:nvPicPr>
          <p:cNvPr id="7" name="圖片 6" descr="一張含有 字型, 圖形, 平面設計, 螢幕擷取畫面 的圖片&#10;&#10;AI 產生的內容可能不正確。">
            <a:extLst>
              <a:ext uri="{FF2B5EF4-FFF2-40B4-BE49-F238E27FC236}">
                <a16:creationId xmlns:a16="http://schemas.microsoft.com/office/drawing/2014/main" id="{4BAFF3BC-4F6A-B993-63A9-D7252BE8A1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rcRect r="37317"/>
          <a:stretch>
            <a:fillRect/>
          </a:stretch>
        </p:blipFill>
        <p:spPr>
          <a:xfrm>
            <a:off x="10208572" y="186619"/>
            <a:ext cx="1349849" cy="40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341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頁尾(Let's Win)動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螢幕擷取畫面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A6D8F313-B1C6-9686-1FE4-EBE844AF02B6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4417273" y="4414850"/>
            <a:ext cx="3357454" cy="679553"/>
          </a:xfrm>
          <a:prstGeom prst="rect">
            <a:avLst/>
          </a:prstGeom>
        </p:spPr>
      </p:pic>
      <p:pic>
        <p:nvPicPr>
          <p:cNvPr id="9" name="圖片 8" descr="一張含有 space, 螢幕擷取畫面, 太空, 宇宙 的圖片&#10;&#10;AI 產生的內容可能不正確。">
            <a:extLst>
              <a:ext uri="{FF2B5EF4-FFF2-40B4-BE49-F238E27FC236}">
                <a16:creationId xmlns:a16="http://schemas.microsoft.com/office/drawing/2014/main" id="{72AEEAD0-355D-60A2-8F3A-9D605441B6D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37BC1BDA-6F8E-7069-26BB-F2528480983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105715" y="6369579"/>
            <a:ext cx="3980570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lvl="0" algn="ctr"/>
            <a:r>
              <a:rPr lang="en-US" altLang="zh-TW" sz="900" b="0" i="0" dirty="0">
                <a:solidFill>
                  <a:schemeClr val="bg1">
                    <a:lumMod val="75000"/>
                  </a:schemeClr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Copyright © 2025 Aivid Technology Inc. All rights reserved.</a:t>
            </a:r>
            <a:endParaRPr kumimoji="1" lang="zh-TW" altLang="en-US" sz="900" dirty="0">
              <a:solidFill>
                <a:schemeClr val="bg1">
                  <a:lumMod val="7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5" name="圖片 4" descr="一張含有 文字, 字型, 圖形, 標誌 的圖片&#10;&#10;AI 產生的內容可能不正確。">
            <a:extLst>
              <a:ext uri="{FF2B5EF4-FFF2-40B4-BE49-F238E27FC236}">
                <a16:creationId xmlns:a16="http://schemas.microsoft.com/office/drawing/2014/main" id="{46546DF0-8DED-6067-FE04-34D552013C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01368" y="2149035"/>
            <a:ext cx="6589263" cy="2213480"/>
          </a:xfrm>
          <a:prstGeom prst="rect">
            <a:avLst/>
          </a:prstGeom>
        </p:spPr>
      </p:pic>
      <p:pic>
        <p:nvPicPr>
          <p:cNvPr id="6" name="圖片 5" descr="一張含有 字型, 圖形, 標誌, 螢幕擷取畫面 的圖片&#10;&#10;AI 產生的內容可能不正確。">
            <a:extLst>
              <a:ext uri="{FF2B5EF4-FFF2-40B4-BE49-F238E27FC236}">
                <a16:creationId xmlns:a16="http://schemas.microsoft.com/office/drawing/2014/main" id="{3ABEA0CA-053E-8865-FFA4-9C74C4F257C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417272" y="4319951"/>
            <a:ext cx="3635421" cy="74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4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32" repeatCount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頁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螢幕擷取畫面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A6D8F313-B1C6-9686-1FE4-EBE844AF02B6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4417273" y="4414850"/>
            <a:ext cx="3357454" cy="679553"/>
          </a:xfrm>
          <a:prstGeom prst="rect">
            <a:avLst/>
          </a:prstGeom>
        </p:spPr>
      </p:pic>
      <p:pic>
        <p:nvPicPr>
          <p:cNvPr id="9" name="圖片 8" descr="一張含有 space, 螢幕擷取畫面, 太空, 宇宙 的圖片&#10;&#10;AI 產生的內容可能不正確。">
            <a:extLst>
              <a:ext uri="{FF2B5EF4-FFF2-40B4-BE49-F238E27FC236}">
                <a16:creationId xmlns:a16="http://schemas.microsoft.com/office/drawing/2014/main" id="{72AEEAD0-355D-60A2-8F3A-9D605441B6D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37BC1BDA-6F8E-7069-26BB-F2528480983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105715" y="6369579"/>
            <a:ext cx="3980570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lvl="0" algn="ctr"/>
            <a:r>
              <a:rPr lang="en-US" altLang="zh-TW" sz="900" b="0" i="0" dirty="0">
                <a:solidFill>
                  <a:schemeClr val="bg1">
                    <a:lumMod val="75000"/>
                  </a:schemeClr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Copyright © 2025 Aivid Technology Inc. All rights reserved.</a:t>
            </a:r>
            <a:endParaRPr kumimoji="1" lang="zh-TW" altLang="en-US" sz="900" dirty="0">
              <a:solidFill>
                <a:schemeClr val="bg1">
                  <a:lumMod val="7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3" name="圖片 2" descr="一張含有 文字, 字型, 圖形, 標誌 的圖片&#10;&#10;AI 產生的內容可能不正確。">
            <a:extLst>
              <a:ext uri="{FF2B5EF4-FFF2-40B4-BE49-F238E27FC236}">
                <a16:creationId xmlns:a16="http://schemas.microsoft.com/office/drawing/2014/main" id="{405BF0E2-8673-2D33-8060-20F8E74C4203}"/>
              </a:ext>
            </a:extLst>
          </p:cNvPr>
          <p:cNvPicPr/>
          <p:nvPr userDrawn="1"/>
        </p:nvPicPr>
        <p:blipFill>
          <a:blip r:embed="rId4"/>
          <a:stretch>
            <a:fillRect/>
          </a:stretch>
        </p:blipFill>
        <p:spPr>
          <a:xfrm>
            <a:off x="2801368" y="2149035"/>
            <a:ext cx="6589263" cy="221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頁尾(Thank Yo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螢幕擷取畫面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A6D8F313-B1C6-9686-1FE4-EBE844AF02B6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4417273" y="4414850"/>
            <a:ext cx="3357454" cy="679553"/>
          </a:xfrm>
          <a:prstGeom prst="rect">
            <a:avLst/>
          </a:prstGeom>
        </p:spPr>
      </p:pic>
      <p:pic>
        <p:nvPicPr>
          <p:cNvPr id="9" name="圖片 8" descr="一張含有 space, 螢幕擷取畫面, 太空, 宇宙 的圖片&#10;&#10;AI 產生的內容可能不正確。">
            <a:extLst>
              <a:ext uri="{FF2B5EF4-FFF2-40B4-BE49-F238E27FC236}">
                <a16:creationId xmlns:a16="http://schemas.microsoft.com/office/drawing/2014/main" id="{72AEEAD0-355D-60A2-8F3A-9D605441B6D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37BC1BDA-6F8E-7069-26BB-F2528480983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105715" y="6369579"/>
            <a:ext cx="3980570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lvl="0" algn="ctr"/>
            <a:r>
              <a:rPr lang="en-US" altLang="zh-TW" sz="900" b="0" i="0" dirty="0">
                <a:solidFill>
                  <a:schemeClr val="bg1">
                    <a:lumMod val="75000"/>
                  </a:schemeClr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Copyright © 2025 Aivid Technology Inc. All rights reserved.</a:t>
            </a:r>
            <a:endParaRPr kumimoji="1" lang="zh-TW" altLang="en-US" sz="900" dirty="0">
              <a:solidFill>
                <a:schemeClr val="bg1">
                  <a:lumMod val="7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5" name="圖片 4" descr="一張含有 文字, 字型, 圖形, 標誌 的圖片&#10;&#10;AI 產生的內容可能不正確。">
            <a:extLst>
              <a:ext uri="{FF2B5EF4-FFF2-40B4-BE49-F238E27FC236}">
                <a16:creationId xmlns:a16="http://schemas.microsoft.com/office/drawing/2014/main" id="{46546DF0-8DED-6067-FE04-34D552013C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01368" y="2149035"/>
            <a:ext cx="6589263" cy="2213480"/>
          </a:xfrm>
          <a:prstGeom prst="rect">
            <a:avLst/>
          </a:prstGeom>
        </p:spPr>
      </p:pic>
      <p:pic>
        <p:nvPicPr>
          <p:cNvPr id="3" name="圖片 2" descr="一張含有 螢幕擷取畫面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9130843E-43E5-A607-0479-260DF50A7B7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4417273" y="4346717"/>
            <a:ext cx="3357454" cy="67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11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EE89CD-F8FF-3E59-3B5E-628077D7D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7766ED-0B07-C2D4-F440-D8AAE8145A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DAEBBCE-80A7-A0CA-14CF-F6AE4F69B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9032F5-D9EF-CCEE-A136-45362C21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EBC-91C7-B243-B5DE-E44726B7FF5D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A6324C-3433-9A00-151E-142ECF74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5A0464A-0195-2345-8E24-4601ADDA0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92EE-2C1C-C248-9ECE-5D6CD30E81E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180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8B6160-EF93-5D46-42AE-39B2DC14C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C4543D3-2105-30C9-44C6-FF67A494A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982697F-D996-44C3-DFDC-05A6F688C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09D77B9-0A79-B1FE-9E15-A2967FA27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2800069-909C-2923-7E25-701C383554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5BCAC29-C323-CC70-5F15-7E058F87D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EBC-91C7-B243-B5DE-E44726B7FF5D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6450E44-4622-E51B-260D-8F0899192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9592A16-B1D3-F0A5-CA63-E02BFC09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92EE-2C1C-C248-9ECE-5D6CD30E81E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36666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2ADDF2-3009-5C30-E5AD-CF64F4FCA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6329588-1EF6-FBFB-94EC-C63FA72B9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EBC-91C7-B243-B5DE-E44726B7FF5D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37F9869-1DEC-6261-FEC9-54B8C74A1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8A20E1-9F19-E35C-D8F0-FA92614C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92EE-2C1C-C248-9ECE-5D6CD30E81E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94660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BD9EEB7-44AD-FEC5-AD0F-5106E8745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EBC-91C7-B243-B5DE-E44726B7FF5D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C8C8FE2-CDA1-155F-6352-75205923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B1709C-7B2F-E50A-F8D2-6BF90010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92EE-2C1C-C248-9ECE-5D6CD30E81E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05296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09E86D-083D-A041-08AE-D88D5DDB4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E9C46F-BF48-F262-019D-0D4B29B48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B32B49B-2C79-9150-3960-EA7604BBF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EB5F02-F2B9-3B36-C929-258A110B8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EBC-91C7-B243-B5DE-E44726B7FF5D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091CACF-2870-CE31-414C-9AC4F658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ABE51E-8F0E-6C08-4B57-C40E3C9E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92EE-2C1C-C248-9ECE-5D6CD30E81E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03477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479932-76F8-D5D6-DF19-41F6C5AA0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104E20F-F7F6-B837-4A28-38CA5D16A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B091DD6-8B87-3675-2007-4EA9C98B1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5EBBEF-5480-2F6B-B22F-BB3527AE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EBC-91C7-B243-B5DE-E44726B7FF5D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E893C48-DE98-630C-31BC-6145025A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47CA91-0A0D-BCBB-8024-D5D801B6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92EE-2C1C-C248-9ECE-5D6CD30E81E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20021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82B1CD-66D7-0A9A-CEA7-48DF21582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9915550-6350-BDDA-995F-CA1147A1D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FA52CD-4D7E-0153-D12E-7AB99C1CC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EBC-91C7-B243-B5DE-E44726B7FF5D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D88A55-2CD0-F889-005A-3E7A9210B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313A0B-4B67-19EE-D99F-B29FC18C9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92EE-2C1C-C248-9ECE-5D6CD30E81E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49498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7E190F3-F0F6-3BA6-BEE8-7B2958CF5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F41E5C-6E7C-833E-0159-04B1443B2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DE0B6F-ACDE-6383-99F4-0F37A859E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0EBC-91C7-B243-B5DE-E44726B7FF5D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95B8AC-84E5-4726-C785-D3EEAC606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7837F7-772D-30A7-EFF8-00D76BD1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92EE-2C1C-C248-9ECE-5D6CD30E81E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79333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3479D7F-9947-3A7D-FF90-484ADA5B0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8D2A41-3504-F56B-8F9B-7FF95608D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2BC569-DEEC-9A10-E46A-FA43433E3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400EBC-91C7-B243-B5DE-E44726B7FF5D}" type="datetimeFigureOut">
              <a:rPr kumimoji="1" lang="zh-TW" altLang="en-US" smtClean="0"/>
              <a:t>2026/7/21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238EE3-895C-54F6-5F93-A0CF1BB6F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BD4688-3810-ED13-E795-8B9087DBF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9592EE-2C1C-C248-9ECE-5D6CD30E81E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2296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7" r:id="rId3"/>
    <p:sldLayoutId id="2147483650" r:id="rId4"/>
    <p:sldLayoutId id="2147483663" r:id="rId5"/>
    <p:sldLayoutId id="2147483661" r:id="rId6"/>
    <p:sldLayoutId id="2147483651" r:id="rId7"/>
    <p:sldLayoutId id="2147483669" r:id="rId8"/>
    <p:sldLayoutId id="2147483668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utek.com.tw/index.php/the-process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wur.nlma.gov.tw/zh/urban/statistic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wur.nlma.gov.tw/zh/urban/statistics/view/1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wur.nlma.gov.tw/zh/urban/statistics/view/1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ro.gov.taipei/News_Content.aspx?n=5E79553CBBAE8DFB&amp;sms=87415A8B9CE81B16&amp;s=D2FD2716F001C256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in-life.com.tw/&#37117;&#24066;&#26356;&#26032;&#25078;&#20154;&#21253;10&#20998;&#37912;&#24324;&#25026;&#37117;&#26356;/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696900-C4EC-61EB-DA83-6E4EB3AD1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3873" y="1853049"/>
            <a:ext cx="7070901" cy="2617698"/>
          </a:xfrm>
        </p:spPr>
        <p:txBody>
          <a:bodyPr>
            <a:normAutofit fontScale="90000"/>
          </a:bodyPr>
          <a:lstStyle/>
          <a:p>
            <a:r>
              <a:rPr lang="en-US" altLang="zh-TW" sz="5300" dirty="0"/>
              <a:t>AI</a:t>
            </a:r>
            <a:r>
              <a:rPr lang="zh-TW" altLang="en-US" sz="5300" dirty="0"/>
              <a:t>創新服務研發補助計畫</a:t>
            </a:r>
            <a:br>
              <a:rPr lang="en-US" altLang="zh-TW" dirty="0"/>
            </a:br>
            <a:r>
              <a:rPr lang="zh-TW" altLang="en-US" sz="3600" b="0" dirty="0">
                <a:solidFill>
                  <a:srgbClr val="FD5647"/>
                </a:solidFill>
              </a:rPr>
              <a:t>以 </a:t>
            </a:r>
            <a:r>
              <a:rPr lang="en-US" altLang="zh-TW" sz="3600" b="0" dirty="0">
                <a:solidFill>
                  <a:srgbClr val="FFC000"/>
                </a:solidFill>
              </a:rPr>
              <a:t>LLM Wiki </a:t>
            </a:r>
            <a:r>
              <a:rPr lang="zh-TW" altLang="en-US" sz="3600" b="0" dirty="0">
                <a:solidFill>
                  <a:srgbClr val="FD5647"/>
                </a:solidFill>
              </a:rPr>
              <a:t>與 </a:t>
            </a:r>
            <a:r>
              <a:rPr lang="en-US" altLang="zh-TW" sz="3600" b="0" dirty="0">
                <a:solidFill>
                  <a:srgbClr val="FFC000"/>
                </a:solidFill>
              </a:rPr>
              <a:t>AI</a:t>
            </a:r>
            <a:r>
              <a:rPr lang="zh-TW" altLang="en-US" sz="3600" b="0" dirty="0">
                <a:solidFill>
                  <a:srgbClr val="FFC000"/>
                </a:solidFill>
              </a:rPr>
              <a:t>多代理協作</a:t>
            </a:r>
            <a:br>
              <a:rPr lang="en-US" altLang="zh-TW" sz="3600" b="0" dirty="0">
                <a:solidFill>
                  <a:srgbClr val="FD5647"/>
                </a:solidFill>
              </a:rPr>
            </a:br>
            <a:r>
              <a:rPr lang="zh-TW" altLang="en-US" sz="3600" b="0" dirty="0">
                <a:solidFill>
                  <a:srgbClr val="FD5647"/>
                </a:solidFill>
              </a:rPr>
              <a:t>輔助</a:t>
            </a:r>
            <a:r>
              <a:rPr lang="zh-TW" altLang="en-US" sz="3600" b="0" dirty="0">
                <a:solidFill>
                  <a:srgbClr val="FFC000"/>
                </a:solidFill>
              </a:rPr>
              <a:t>都市更新計劃書</a:t>
            </a:r>
            <a:r>
              <a:rPr lang="zh-TW" altLang="en-US" sz="3600" b="0" dirty="0">
                <a:solidFill>
                  <a:srgbClr val="FD5647"/>
                </a:solidFill>
              </a:rPr>
              <a:t>報核審議</a:t>
            </a:r>
            <a:br>
              <a:rPr lang="en-US" altLang="zh-TW" sz="3600" b="0" dirty="0">
                <a:solidFill>
                  <a:srgbClr val="FD5647"/>
                </a:solidFill>
              </a:rPr>
            </a:br>
            <a:r>
              <a:rPr lang="en-US" altLang="zh-TW" sz="3600" b="0" dirty="0">
                <a:solidFill>
                  <a:srgbClr val="FD5647"/>
                </a:solidFill>
              </a:rPr>
              <a:t>(</a:t>
            </a:r>
            <a:r>
              <a:rPr lang="zh-TW" altLang="en-US" sz="3600" b="0" dirty="0">
                <a:solidFill>
                  <a:srgbClr val="FD5647"/>
                </a:solidFill>
              </a:rPr>
              <a:t>第一期計畫</a:t>
            </a:r>
            <a:r>
              <a:rPr lang="en-US" altLang="zh-TW" sz="3600" b="0" dirty="0">
                <a:solidFill>
                  <a:srgbClr val="FD5647"/>
                </a:solidFill>
              </a:rPr>
              <a:t>)</a:t>
            </a:r>
            <a:endParaRPr kumimoji="1"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FCBCBDB-2A36-D307-75FD-ABDE0575CF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計畫主持人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6FBC3FE-0FBE-6012-B9B2-583DA03E0F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2026</a:t>
            </a:r>
            <a:r>
              <a:rPr kumimoji="1" lang="zh-TW" altLang="en-US" dirty="0"/>
              <a:t> </a:t>
            </a:r>
            <a:r>
              <a:rPr kumimoji="1" lang="en-US" altLang="zh-TW" dirty="0"/>
              <a:t>/</a:t>
            </a:r>
            <a:r>
              <a:rPr kumimoji="1" lang="zh-TW" altLang="en-US" dirty="0"/>
              <a:t> </a:t>
            </a:r>
            <a:r>
              <a:rPr kumimoji="1" lang="en-US" altLang="zh-TW" dirty="0"/>
              <a:t>7</a:t>
            </a:r>
            <a:r>
              <a:rPr kumimoji="1" lang="zh-TW" altLang="en-US" dirty="0"/>
              <a:t> </a:t>
            </a:r>
            <a:r>
              <a:rPr kumimoji="1" lang="en-US" altLang="zh-TW" dirty="0"/>
              <a:t>/</a:t>
            </a:r>
            <a:r>
              <a:rPr kumimoji="1" lang="zh-TW" altLang="en-US" dirty="0"/>
              <a:t> </a:t>
            </a:r>
            <a:r>
              <a:rPr kumimoji="1" lang="en-US" altLang="zh-TW" dirty="0"/>
              <a:t>21</a:t>
            </a:r>
            <a:endParaRPr kumimoji="1"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0790908-AFDE-80D0-75E6-6F6F713445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zh-TW" dirty="0">
                <a:solidFill>
                  <a:srgbClr val="61CBF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簡報人 </a:t>
            </a:r>
            <a:r>
              <a:rPr lang="en-US" altLang="zh-TW" dirty="0">
                <a:solidFill>
                  <a:srgbClr val="61CBF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6623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C63E6-09F8-3032-929E-DDEF41275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DBAEE-9B60-9E41-85D1-ABBECD744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3873" y="1853049"/>
            <a:ext cx="6954170" cy="2617698"/>
          </a:xfrm>
        </p:spPr>
        <p:txBody>
          <a:bodyPr>
            <a:normAutofit fontScale="90000"/>
          </a:bodyPr>
          <a:lstStyle/>
          <a:p>
            <a:r>
              <a:rPr lang="en-US" altLang="zh-TW" sz="5300" dirty="0"/>
              <a:t>AI</a:t>
            </a:r>
            <a:r>
              <a:rPr lang="zh-TW" altLang="en-US" sz="5300" dirty="0"/>
              <a:t>創新服務研發補助計畫</a:t>
            </a:r>
            <a:br>
              <a:rPr lang="en-US" altLang="zh-TW" dirty="0"/>
            </a:br>
            <a:r>
              <a:rPr lang="zh-TW" altLang="en-US" sz="3600" b="0" dirty="0">
                <a:solidFill>
                  <a:srgbClr val="FD5647"/>
                </a:solidFill>
              </a:rPr>
              <a:t>以 </a:t>
            </a:r>
            <a:r>
              <a:rPr lang="en-US" altLang="zh-TW" sz="3600" b="0" dirty="0">
                <a:solidFill>
                  <a:srgbClr val="FFC000"/>
                </a:solidFill>
              </a:rPr>
              <a:t>LLM Wiki </a:t>
            </a:r>
            <a:r>
              <a:rPr lang="zh-TW" altLang="en-US" sz="3600" b="0" dirty="0">
                <a:solidFill>
                  <a:srgbClr val="FD5647"/>
                </a:solidFill>
              </a:rPr>
              <a:t>與 </a:t>
            </a:r>
            <a:r>
              <a:rPr lang="en-US" altLang="zh-TW" sz="3600" b="0" dirty="0">
                <a:solidFill>
                  <a:srgbClr val="FFC000"/>
                </a:solidFill>
              </a:rPr>
              <a:t>AI</a:t>
            </a:r>
            <a:r>
              <a:rPr lang="zh-TW" altLang="en-US" sz="3600" b="0" dirty="0">
                <a:solidFill>
                  <a:srgbClr val="FFC000"/>
                </a:solidFill>
              </a:rPr>
              <a:t>多代理協作</a:t>
            </a:r>
            <a:br>
              <a:rPr lang="en-US" altLang="zh-TW" sz="3600" b="0" dirty="0">
                <a:solidFill>
                  <a:srgbClr val="FD5647"/>
                </a:solidFill>
              </a:rPr>
            </a:br>
            <a:r>
              <a:rPr lang="zh-TW" altLang="en-US" sz="3600" b="0" dirty="0">
                <a:solidFill>
                  <a:srgbClr val="FD5647"/>
                </a:solidFill>
              </a:rPr>
              <a:t>輔助</a:t>
            </a:r>
            <a:r>
              <a:rPr lang="zh-TW" altLang="en-US" sz="3600" b="0" dirty="0">
                <a:solidFill>
                  <a:srgbClr val="FFC000"/>
                </a:solidFill>
              </a:rPr>
              <a:t>都市更新計劃書</a:t>
            </a:r>
            <a:r>
              <a:rPr lang="zh-TW" altLang="en-US" sz="3600" b="0" dirty="0">
                <a:solidFill>
                  <a:srgbClr val="FD5647"/>
                </a:solidFill>
              </a:rPr>
              <a:t>報核審議</a:t>
            </a:r>
            <a:br>
              <a:rPr lang="en-US" altLang="zh-TW" sz="3600" b="0" dirty="0">
                <a:solidFill>
                  <a:srgbClr val="FD5647"/>
                </a:solidFill>
              </a:rPr>
            </a:br>
            <a:r>
              <a:rPr lang="en-US" altLang="zh-TW" sz="3600" b="0" dirty="0">
                <a:solidFill>
                  <a:srgbClr val="FD5647"/>
                </a:solidFill>
              </a:rPr>
              <a:t>(</a:t>
            </a:r>
            <a:r>
              <a:rPr lang="zh-TW" altLang="en-US" sz="3600" b="0" dirty="0">
                <a:solidFill>
                  <a:srgbClr val="FD5647"/>
                </a:solidFill>
              </a:rPr>
              <a:t>第一期計畫</a:t>
            </a:r>
            <a:r>
              <a:rPr lang="en-US" altLang="zh-TW" sz="3600" b="0" dirty="0">
                <a:solidFill>
                  <a:srgbClr val="FD5647"/>
                </a:solidFill>
              </a:rPr>
              <a:t>)</a:t>
            </a:r>
            <a:endParaRPr kumimoji="1" lang="zh-TW" altLang="en-US" sz="36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E42A2AE-2077-8379-55E6-8D117CA029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計畫主持人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E29909D-A178-10EC-F5A7-8FC4097901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2026</a:t>
            </a:r>
            <a:r>
              <a:rPr kumimoji="1" lang="zh-TW" altLang="en-US" dirty="0"/>
              <a:t> </a:t>
            </a:r>
            <a:r>
              <a:rPr kumimoji="1" lang="en-US" altLang="zh-TW" dirty="0"/>
              <a:t>/</a:t>
            </a:r>
            <a:r>
              <a:rPr kumimoji="1" lang="zh-TW" altLang="en-US" dirty="0"/>
              <a:t> </a:t>
            </a:r>
            <a:r>
              <a:rPr kumimoji="1" lang="en-US" altLang="zh-TW" dirty="0"/>
              <a:t>7</a:t>
            </a:r>
            <a:r>
              <a:rPr kumimoji="1" lang="zh-TW" altLang="en-US" dirty="0"/>
              <a:t> </a:t>
            </a:r>
            <a:r>
              <a:rPr kumimoji="1" lang="en-US" altLang="zh-TW" dirty="0"/>
              <a:t>/</a:t>
            </a:r>
            <a:r>
              <a:rPr kumimoji="1" lang="zh-TW" altLang="en-US" dirty="0"/>
              <a:t> </a:t>
            </a:r>
            <a:r>
              <a:rPr kumimoji="1" lang="en-US" altLang="zh-TW" dirty="0"/>
              <a:t>21</a:t>
            </a:r>
            <a:endParaRPr kumimoji="1"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DF8B5D5-AE98-5B9A-610E-21E3673FFD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zh-TW" dirty="0">
                <a:solidFill>
                  <a:srgbClr val="61CBF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簡報人 </a:t>
            </a:r>
            <a:r>
              <a:rPr lang="en-US" altLang="zh-TW" dirty="0">
                <a:solidFill>
                  <a:srgbClr val="61CBF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5449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3E4D53-AD6E-8975-FCBA-91A1CF02A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z="3200" b="0" dirty="0"/>
              <a:t>關於</a:t>
            </a:r>
            <a:r>
              <a:rPr kumimoji="1" lang="en-US" altLang="zh-TW" sz="3200" b="0" dirty="0"/>
              <a:t>  </a:t>
            </a:r>
            <a:r>
              <a:rPr kumimoji="1" lang="zh-TW" altLang="en-US" b="0" dirty="0"/>
              <a:t>慧影科技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13BBE0-F586-1EDD-B6CE-F2D82A55F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571" y="3493455"/>
            <a:ext cx="10824816" cy="294556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TW" altLang="en-US" sz="1600" dirty="0"/>
              <a:t>慧影科技（</a:t>
            </a:r>
            <a:r>
              <a:rPr kumimoji="1" lang="en-US" altLang="zh-TW" sz="1600" dirty="0"/>
              <a:t>Aivid Technology</a:t>
            </a:r>
            <a:r>
              <a:rPr kumimoji="1" lang="zh-TW" altLang="en-US" sz="1600" dirty="0"/>
              <a:t>）專注於人工智慧與智慧化解決方案，結合研發能力與跨領域技術，為政府、企業、教育、媒體及製造業打造高效能的數位轉型解決方案。我們將科技融入日常生活，推動產業升級與社會進步。</a:t>
            </a:r>
            <a:endParaRPr kumimoji="1" lang="en-US" altLang="zh-TW" sz="1600" dirty="0"/>
          </a:p>
          <a:p>
            <a:pPr marL="0" indent="0">
              <a:lnSpc>
                <a:spcPct val="150000"/>
              </a:lnSpc>
              <a:buNone/>
            </a:pPr>
            <a:r>
              <a:rPr kumimoji="1" lang="zh-TW" altLang="en-US" sz="1600" dirty="0"/>
              <a:t>我們的服務涵蓋物聯網（</a:t>
            </a:r>
            <a:r>
              <a:rPr kumimoji="1" lang="en-US" altLang="zh-TW" sz="1600" dirty="0" err="1"/>
              <a:t>AIoT</a:t>
            </a:r>
            <a:r>
              <a:rPr kumimoji="1" lang="zh-TW" altLang="en-US" sz="1600" dirty="0"/>
              <a:t>）、虛擬與混合實境（</a:t>
            </a:r>
            <a:r>
              <a:rPr kumimoji="1" lang="en-US" altLang="zh-TW" sz="1600" dirty="0"/>
              <a:t>VR/MR</a:t>
            </a:r>
            <a:r>
              <a:rPr kumimoji="1" lang="zh-TW" altLang="en-US" sz="1600" dirty="0"/>
              <a:t>）、數位看板與旅客資訊系統、寬頻網路建設、媒體廣播與串流、</a:t>
            </a:r>
            <a:r>
              <a:rPr kumimoji="1" lang="en-US" altLang="zh-TW" sz="1600" dirty="0"/>
              <a:t>AI </a:t>
            </a:r>
            <a:r>
              <a:rPr kumimoji="1" lang="zh-TW" altLang="en-US" sz="1600" dirty="0"/>
              <a:t>人臉辨識，以及數位整合與社群媒體行銷。從政府基礎設施到企業智慧辦公室，從教育數位學習到媒體廣播應用，我們秉持對效率與品質的承諾，提供完整的解決方案。</a:t>
            </a:r>
          </a:p>
        </p:txBody>
      </p:sp>
    </p:spTree>
    <p:extLst>
      <p:ext uri="{BB962C8B-B14F-4D97-AF65-F5344CB8AC3E}">
        <p14:creationId xmlns:p14="http://schemas.microsoft.com/office/powerpoint/2010/main" val="3076701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FE5E1-60A2-10FA-4C1A-055A973B5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68647B-8A64-5AB9-32EB-D06CDC50D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776" y="746760"/>
            <a:ext cx="7039404" cy="1040091"/>
          </a:xfrm>
        </p:spPr>
        <p:txBody>
          <a:bodyPr>
            <a:normAutofit/>
          </a:bodyPr>
          <a:lstStyle/>
          <a:p>
            <a:r>
              <a:rPr lang="zh-TW" altLang="en-US" dirty="0"/>
              <a:t>簡報大綱</a:t>
            </a:r>
            <a:endParaRPr kumimoji="1" lang="zh-TW" altLang="en-US" b="0" dirty="0">
              <a:solidFill>
                <a:schemeClr val="accent4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90FC48-6A25-60C1-6D01-1ACBF69AC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776" y="2095946"/>
            <a:ext cx="7039404" cy="401529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/>
              <a:t>公司簡介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/>
              <a:t>目標市場需求評估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/>
              <a:t>開發內容說明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/>
              <a:t>無形資產引進與委託研究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/>
              <a:t>競爭者分析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/>
              <a:t>行銷策略規劃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/>
              <a:t>獲利模式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/>
              <a:t>預期效益說明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/>
              <a:t>經費編列說明</a:t>
            </a:r>
          </a:p>
        </p:txBody>
      </p:sp>
    </p:spTree>
    <p:extLst>
      <p:ext uri="{BB962C8B-B14F-4D97-AF65-F5344CB8AC3E}">
        <p14:creationId xmlns:p14="http://schemas.microsoft.com/office/powerpoint/2010/main" val="1255190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335E2-2B6A-6F4E-5137-F1CE76A83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494299-DD39-CD3C-E8E6-2DC9AF07A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776" y="746760"/>
            <a:ext cx="7039404" cy="1040091"/>
          </a:xfrm>
        </p:spPr>
        <p:txBody>
          <a:bodyPr>
            <a:normAutofit/>
          </a:bodyPr>
          <a:lstStyle/>
          <a:p>
            <a:r>
              <a:rPr lang="zh-TW" altLang="en-US" dirty="0"/>
              <a:t>簡報大綱</a:t>
            </a:r>
            <a:endParaRPr kumimoji="1" lang="zh-TW" altLang="en-US" b="0" dirty="0">
              <a:solidFill>
                <a:schemeClr val="accent4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E313B9-DE51-87F4-A2D3-0B9047E32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776" y="2095946"/>
            <a:ext cx="7039404" cy="401529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3600" b="1" dirty="0"/>
              <a:t>公司簡介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目標市場需求評估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開發內容說明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無形資產引進與委託研究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競爭者分析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行銷策略規劃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獲利模式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預期效益說明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經費編列說明</a:t>
            </a:r>
          </a:p>
        </p:txBody>
      </p:sp>
    </p:spTree>
    <p:extLst>
      <p:ext uri="{BB962C8B-B14F-4D97-AF65-F5344CB8AC3E}">
        <p14:creationId xmlns:p14="http://schemas.microsoft.com/office/powerpoint/2010/main" val="3336724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73DD2-C60D-DB3B-B12F-F14832FAC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7B88A-6BAD-05B5-FC2D-4BBF01B2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專案團隊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205DBC1-3756-A809-40E3-9010FF33E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>
                <a:solidFill>
                  <a:schemeClr val="accent1"/>
                </a:solidFill>
              </a:rPr>
              <a:t>開發</a:t>
            </a:r>
            <a:endParaRPr lang="en-US" altLang="zh-TW" dirty="0">
              <a:solidFill>
                <a:schemeClr val="accent1"/>
              </a:solidFill>
            </a:endParaRPr>
          </a:p>
          <a:p>
            <a:r>
              <a:rPr lang="en-US" altLang="zh-TW" dirty="0"/>
              <a:t>Aivid Technology </a:t>
            </a:r>
            <a:r>
              <a:rPr lang="zh-TW" altLang="en-US" dirty="0"/>
              <a:t>慧影科技股份有限公司</a:t>
            </a:r>
            <a:endParaRPr lang="en-US" altLang="zh-TW" dirty="0"/>
          </a:p>
          <a:p>
            <a:r>
              <a:rPr lang="en-US" altLang="zh-TW" dirty="0"/>
              <a:t>milk idea </a:t>
            </a:r>
            <a:r>
              <a:rPr lang="zh-TW" altLang="en-US" dirty="0"/>
              <a:t>牛奶股份有限公司</a:t>
            </a: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r>
              <a:rPr lang="zh-TW" altLang="en-US" dirty="0">
                <a:solidFill>
                  <a:schemeClr val="accent1"/>
                </a:solidFill>
              </a:rPr>
              <a:t>顧問</a:t>
            </a:r>
            <a:endParaRPr lang="en-US" altLang="zh-TW" dirty="0">
              <a:solidFill>
                <a:schemeClr val="accent1"/>
              </a:solidFill>
            </a:endParaRPr>
          </a:p>
          <a:p>
            <a:r>
              <a:rPr lang="zh-TW" altLang="en-US" dirty="0"/>
              <a:t>臺北市都市更新學會</a:t>
            </a: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r>
              <a:rPr lang="zh-TW" altLang="en-US" dirty="0">
                <a:solidFill>
                  <a:schemeClr val="accent1"/>
                </a:solidFill>
              </a:rPr>
              <a:t>行銷</a:t>
            </a:r>
            <a:endParaRPr lang="en-US" altLang="zh-TW" dirty="0">
              <a:solidFill>
                <a:schemeClr val="accent1"/>
              </a:solidFill>
            </a:endParaRPr>
          </a:p>
          <a:p>
            <a:r>
              <a:rPr lang="en-US" altLang="zh-TW" dirty="0"/>
              <a:t>ARTFULTECH </a:t>
            </a:r>
            <a:r>
              <a:rPr lang="zh-TW" altLang="en-US" dirty="0"/>
              <a:t>大巧不工行銷有限公司</a:t>
            </a:r>
            <a:endParaRPr lang="en-US" altLang="zh-TW" dirty="0"/>
          </a:p>
          <a:p>
            <a:r>
              <a:rPr lang="zh-TW" altLang="en-US" dirty="0">
                <a:solidFill>
                  <a:srgbClr val="FF0000"/>
                </a:solidFill>
              </a:rPr>
              <a:t>不掛名</a:t>
            </a:r>
            <a:r>
              <a:rPr lang="en-US" altLang="zh-TW" dirty="0">
                <a:solidFill>
                  <a:srgbClr val="FF0000"/>
                </a:solidFill>
              </a:rPr>
              <a:t>?</a:t>
            </a:r>
            <a:r>
              <a:rPr lang="en-US" altLang="zh-TW" dirty="0"/>
              <a:t>(Family</a:t>
            </a:r>
            <a:r>
              <a:rPr lang="zh-TW" altLang="en-US" dirty="0"/>
              <a:t> </a:t>
            </a:r>
            <a:r>
              <a:rPr lang="en-US" altLang="zh-TW" dirty="0"/>
              <a:t>plus technology</a:t>
            </a:r>
            <a:r>
              <a:rPr lang="zh-TW" altLang="en-US" dirty="0"/>
              <a:t> 徽摩立科技股份有限公司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7934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DA29B-1DBA-D05B-8C6F-6C172AD1E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EEE9D-777E-801D-D5B5-573ABB626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776" y="746760"/>
            <a:ext cx="7039404" cy="1040091"/>
          </a:xfrm>
        </p:spPr>
        <p:txBody>
          <a:bodyPr>
            <a:normAutofit/>
          </a:bodyPr>
          <a:lstStyle/>
          <a:p>
            <a:r>
              <a:rPr lang="zh-TW" altLang="en-US" dirty="0"/>
              <a:t>簡報大綱</a:t>
            </a:r>
            <a:endParaRPr kumimoji="1" lang="zh-TW" altLang="en-US" b="0" dirty="0">
              <a:solidFill>
                <a:schemeClr val="accent4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475AEB-E08A-0130-3951-C5685364F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776" y="2095946"/>
            <a:ext cx="7039404" cy="401529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公司簡介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3600" b="1" dirty="0">
                <a:solidFill>
                  <a:schemeClr val="tx1"/>
                </a:solidFill>
              </a:rPr>
              <a:t>目標市場需求評估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開發內容說明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無形資產引進與委託研究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競爭者分析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行銷策略規劃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獲利模式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預期效益說明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經費編列說明</a:t>
            </a:r>
          </a:p>
        </p:txBody>
      </p:sp>
    </p:spTree>
    <p:extLst>
      <p:ext uri="{BB962C8B-B14F-4D97-AF65-F5344CB8AC3E}">
        <p14:creationId xmlns:p14="http://schemas.microsoft.com/office/powerpoint/2010/main" val="1539411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73FC618-2F10-4D2D-95AA-34C92692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都更作業四大階段</a:t>
            </a:r>
            <a:br>
              <a:rPr lang="en-US" altLang="zh-TW" dirty="0"/>
            </a:br>
            <a:r>
              <a:rPr lang="zh-TW" altLang="en-US" sz="1300" dirty="0"/>
              <a:t>資料來源：永德國際開發建設</a:t>
            </a:r>
            <a:r>
              <a:rPr lang="en-US" altLang="zh-TW" sz="1300" dirty="0"/>
              <a:t> (</a:t>
            </a:r>
            <a:r>
              <a:rPr lang="en-US" altLang="zh-TW" sz="1300" dirty="0">
                <a:hlinkClick r:id="rId2"/>
              </a:rPr>
              <a:t>https://utek.com.tw/index.php/the-process</a:t>
            </a:r>
            <a:r>
              <a:rPr lang="en-US" altLang="zh-TW" sz="1300" dirty="0"/>
              <a:t>)</a:t>
            </a:r>
            <a:endParaRPr lang="zh-TW" altLang="en-US" sz="1300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2D66AD8-4D82-F0D2-1C4B-92B1CB9DB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25517" y="1330325"/>
            <a:ext cx="3872728" cy="5108575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99763D7A-DC29-9250-1D92-248074886CED}"/>
              </a:ext>
            </a:extLst>
          </p:cNvPr>
          <p:cNvSpPr/>
          <p:nvPr/>
        </p:nvSpPr>
        <p:spPr>
          <a:xfrm>
            <a:off x="3985846" y="4278923"/>
            <a:ext cx="808892" cy="281354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3920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BC8BB-BD0A-D35B-67B3-48D6FF0FC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395C34-1C25-5BF6-7ECC-840EA92B2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全國都市更新統計成果</a:t>
            </a:r>
            <a:br>
              <a:rPr lang="en-US" altLang="zh-TW" dirty="0"/>
            </a:br>
            <a:r>
              <a:rPr lang="zh-TW" altLang="en-US" sz="1300" dirty="0"/>
              <a:t>資料來源：都市更新入口網 </a:t>
            </a:r>
            <a:r>
              <a:rPr lang="en-US" altLang="zh-TW" sz="1300" dirty="0"/>
              <a:t>(</a:t>
            </a:r>
            <a:r>
              <a:rPr lang="en-US" altLang="zh-TW" sz="1300" dirty="0">
                <a:hlinkClick r:id="rId3"/>
              </a:rPr>
              <a:t>https://twur.nlma.gov.tw/zh/urban/statistics</a:t>
            </a:r>
            <a:r>
              <a:rPr lang="en-US" altLang="zh-TW" sz="1300" dirty="0"/>
              <a:t>)</a:t>
            </a:r>
            <a:endParaRPr lang="zh-TW" altLang="en-US" sz="1300" dirty="0"/>
          </a:p>
        </p:txBody>
      </p:sp>
      <p:pic>
        <p:nvPicPr>
          <p:cNvPr id="3" name="內容版面配置區 2">
            <a:extLst>
              <a:ext uri="{FF2B5EF4-FFF2-40B4-BE49-F238E27FC236}">
                <a16:creationId xmlns:a16="http://schemas.microsoft.com/office/drawing/2014/main" id="{3E378E57-B8E5-837D-8198-DF43A0AC2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351881" y="1460500"/>
            <a:ext cx="7620000" cy="484822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8A3497A-FC28-7F1A-297B-13DE63810CAD}"/>
              </a:ext>
            </a:extLst>
          </p:cNvPr>
          <p:cNvSpPr txBox="1"/>
          <p:nvPr/>
        </p:nvSpPr>
        <p:spPr>
          <a:xfrm>
            <a:off x="492370" y="2579077"/>
            <a:ext cx="2269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臺北市都更案件全國最多，新北市次之</a:t>
            </a:r>
          </a:p>
        </p:txBody>
      </p:sp>
    </p:spTree>
    <p:extLst>
      <p:ext uri="{BB962C8B-B14F-4D97-AF65-F5344CB8AC3E}">
        <p14:creationId xmlns:p14="http://schemas.microsoft.com/office/powerpoint/2010/main" val="3776885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CE5335-79B9-EEED-C482-9CE2C0D3C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臺北市近五年都市更新案件統計</a:t>
            </a:r>
            <a:br>
              <a:rPr lang="en-US" altLang="zh-TW" dirty="0"/>
            </a:br>
            <a:r>
              <a:rPr lang="zh-TW" altLang="en-US" sz="1300" dirty="0"/>
              <a:t>資料來源：都市更新入口網 </a:t>
            </a:r>
            <a:r>
              <a:rPr lang="en-US" altLang="zh-TW" sz="1300" dirty="0"/>
              <a:t>(</a:t>
            </a:r>
            <a:r>
              <a:rPr lang="en-US" altLang="zh-TW" sz="1300" dirty="0">
                <a:hlinkClick r:id="rId3"/>
              </a:rPr>
              <a:t>https://twur.nlma.gov.tw/zh/urban/statistics/view/18</a:t>
            </a:r>
            <a:r>
              <a:rPr lang="en-US" altLang="zh-TW" sz="1300" dirty="0"/>
              <a:t>)</a:t>
            </a:r>
            <a:endParaRPr lang="zh-TW" altLang="en-US" sz="1300" dirty="0"/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4C5112D0-6570-CAFD-7676-6E16D2C8FB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7274847"/>
              </p:ext>
            </p:extLst>
          </p:nvPr>
        </p:nvGraphicFramePr>
        <p:xfrm>
          <a:off x="838200" y="1330325"/>
          <a:ext cx="10647363" cy="5108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118B322E-036F-9EA9-2460-E129705A8F08}"/>
              </a:ext>
            </a:extLst>
          </p:cNvPr>
          <p:cNvSpPr txBox="1"/>
          <p:nvPr/>
        </p:nvSpPr>
        <p:spPr>
          <a:xfrm>
            <a:off x="10029440" y="2419233"/>
            <a:ext cx="2250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報核中案件急遽增加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10B55B2-5C9B-4D3D-3F77-9A3F7FE97CE3}"/>
              </a:ext>
            </a:extLst>
          </p:cNvPr>
          <p:cNvSpPr txBox="1"/>
          <p:nvPr/>
        </p:nvSpPr>
        <p:spPr>
          <a:xfrm>
            <a:off x="10439052" y="5358398"/>
            <a:ext cx="1752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審議量能平穩</a:t>
            </a:r>
          </a:p>
        </p:txBody>
      </p:sp>
    </p:spTree>
    <p:extLst>
      <p:ext uri="{BB962C8B-B14F-4D97-AF65-F5344CB8AC3E}">
        <p14:creationId xmlns:p14="http://schemas.microsoft.com/office/powerpoint/2010/main" val="3046658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A23CB-8410-19DA-944D-B29EACDE8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E0F013-A730-61AA-2C4D-53F3AA262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新北市近五年都市更新案件統計</a:t>
            </a:r>
            <a:br>
              <a:rPr lang="en-US" altLang="zh-TW" dirty="0"/>
            </a:br>
            <a:r>
              <a:rPr lang="zh-TW" altLang="en-US" sz="1300" dirty="0"/>
              <a:t>資料來源：都市更新入口網 </a:t>
            </a:r>
            <a:r>
              <a:rPr lang="en-US" altLang="zh-TW" sz="1300" dirty="0"/>
              <a:t>(</a:t>
            </a:r>
            <a:r>
              <a:rPr lang="en-US" altLang="zh-TW" sz="1300" dirty="0">
                <a:hlinkClick r:id="rId3"/>
              </a:rPr>
              <a:t>https://twur.nlma.gov.tw/zh/urban/statistics/view/18</a:t>
            </a:r>
            <a:r>
              <a:rPr lang="en-US" altLang="zh-TW" sz="1300" dirty="0"/>
              <a:t>)</a:t>
            </a:r>
            <a:endParaRPr lang="zh-TW" altLang="en-US" sz="1300" dirty="0"/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A18B57DD-08D7-FE82-EE06-3FB0A2EA17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6169451"/>
              </p:ext>
            </p:extLst>
          </p:nvPr>
        </p:nvGraphicFramePr>
        <p:xfrm>
          <a:off x="838200" y="1330325"/>
          <a:ext cx="10647363" cy="5108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CD75F15D-6FFB-90EA-3B21-60486D2E9B6E}"/>
              </a:ext>
            </a:extLst>
          </p:cNvPr>
          <p:cNvSpPr txBox="1"/>
          <p:nvPr/>
        </p:nvSpPr>
        <p:spPr>
          <a:xfrm>
            <a:off x="10029440" y="3884612"/>
            <a:ext cx="2250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報核中案件持續增加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C0E3C2-D264-2C72-6EED-F44BD6DA808C}"/>
              </a:ext>
            </a:extLst>
          </p:cNvPr>
          <p:cNvSpPr txBox="1"/>
          <p:nvPr/>
        </p:nvSpPr>
        <p:spPr>
          <a:xfrm>
            <a:off x="10439052" y="5358398"/>
            <a:ext cx="1752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審議量能平穩</a:t>
            </a:r>
          </a:p>
        </p:txBody>
      </p:sp>
    </p:spTree>
    <p:extLst>
      <p:ext uri="{BB962C8B-B14F-4D97-AF65-F5344CB8AC3E}">
        <p14:creationId xmlns:p14="http://schemas.microsoft.com/office/powerpoint/2010/main" val="3851628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EDD1C7-3E80-D3ED-3FFE-E87E7272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臺北市都市更新程序</a:t>
            </a:r>
            <a:br>
              <a:rPr lang="en-US" altLang="zh-TW" dirty="0"/>
            </a:br>
            <a:r>
              <a:rPr lang="zh-TW" altLang="en-US" sz="1300" b="0" dirty="0"/>
              <a:t>資料來源：臺北市都市更新處</a:t>
            </a:r>
            <a:br>
              <a:rPr lang="zh-TW" altLang="en-US" sz="1300" b="0" dirty="0"/>
            </a:br>
            <a:r>
              <a:rPr lang="en-US" altLang="zh-TW" sz="1300" dirty="0"/>
              <a:t> (</a:t>
            </a:r>
            <a:r>
              <a:rPr lang="en-US" altLang="zh-TW" sz="1300" dirty="0">
                <a:hlinkClick r:id="rId3"/>
              </a:rPr>
              <a:t>https://uro.gov.taipei/News_Content.aspx?n=5E79553CBBAE8DFB&amp;sms=87415A8B9CE81B16&amp;s=D2FD2716F001C256</a:t>
            </a:r>
            <a:r>
              <a:rPr lang="en-US" altLang="zh-TW" sz="1300" dirty="0"/>
              <a:t>)</a:t>
            </a:r>
            <a:endParaRPr lang="zh-TW" altLang="en-US" sz="1300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6AE79B9-8C42-8D91-5170-680EB31D0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462" y="2890713"/>
            <a:ext cx="6673007" cy="3841264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C934D8-BCAE-36F7-041B-517D3FDC3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1600" dirty="0"/>
              <a:t>都市更新事業計畫及權利變換計畫階段，須分別擬具計畫書提送市府報核，並歷經公開展覽、公辦公聽會、幹事會或權變小組審查、聽證、審議會及發布實施等相關程序，主要差異性如下：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1600" dirty="0"/>
              <a:t>事權併送：同時擬具事業計畫書及權變計畫書提送市府報核，依上述程序辦理完成並發布實施後，即可依規定辦理拆遷及施工程序。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1600" dirty="0"/>
              <a:t>事權分送：事業計畫發布實施後，始得依核定之事業計畫書內容辦理估價、選配、權變自辦公聽會等作業，而權變計畫書提送市府報核後，需再次依上述程序完成各階段審議並發布實施後，才能依規定辦理拆遷及施工程序，整體辦理程序較事權併送長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E12326F-1209-22A2-7707-52A05D24EBA9}"/>
              </a:ext>
            </a:extLst>
          </p:cNvPr>
          <p:cNvSpPr txBox="1"/>
          <p:nvPr/>
        </p:nvSpPr>
        <p:spPr>
          <a:xfrm>
            <a:off x="644769" y="5591361"/>
            <a:ext cx="4525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都更</a:t>
            </a:r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168</a:t>
            </a:r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&amp; </a:t>
            </a:r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都更</a:t>
            </a:r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150</a:t>
            </a:r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專案：</a:t>
            </a:r>
            <a:endParaRPr lang="en-US" altLang="zh-TW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符合</a:t>
            </a:r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100%</a:t>
            </a:r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同意及特定條件，審議時程縮短</a:t>
            </a:r>
            <a:endParaRPr lang="en-US" altLang="zh-TW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(150</a:t>
            </a:r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工作天約為正常審議時程</a:t>
            </a:r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r>
            <a:r>
              <a:rPr lang="zh-TW" altLang="en-US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個月一半</a:t>
            </a:r>
            <a:r>
              <a:rPr lang="en-US" altLang="zh-TW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5944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10FD47-2C3E-CD9D-293A-99435923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AI</a:t>
            </a:r>
            <a:r>
              <a:rPr lang="zh-TW" altLang="en-US" dirty="0"/>
              <a:t>輔助都市更新流程</a:t>
            </a:r>
            <a:br>
              <a:rPr lang="en-US" altLang="zh-TW" dirty="0"/>
            </a:br>
            <a:r>
              <a:rPr lang="zh-TW" altLang="en-US" sz="1300" dirty="0"/>
              <a:t>資料來源：耕建築</a:t>
            </a:r>
            <a:r>
              <a:rPr lang="en-US" altLang="zh-TW" sz="1300" dirty="0"/>
              <a:t> (</a:t>
            </a:r>
            <a:r>
              <a:rPr lang="en-US" altLang="zh-TW" sz="1300" dirty="0">
                <a:hlinkClick r:id="rId2"/>
              </a:rPr>
              <a:t>https://www.in-life.com.tw/</a:t>
            </a:r>
            <a:r>
              <a:rPr lang="zh-TW" altLang="en-US" sz="1300" dirty="0">
                <a:hlinkClick r:id="rId2"/>
              </a:rPr>
              <a:t>都市更新懶人包</a:t>
            </a:r>
            <a:r>
              <a:rPr lang="en-US" altLang="zh-TW" sz="1300" dirty="0">
                <a:hlinkClick r:id="rId2"/>
              </a:rPr>
              <a:t>10</a:t>
            </a:r>
            <a:r>
              <a:rPr lang="zh-TW" altLang="en-US" sz="1300" dirty="0">
                <a:hlinkClick r:id="rId2"/>
              </a:rPr>
              <a:t>分鐘弄懂都更</a:t>
            </a:r>
            <a:r>
              <a:rPr lang="en-US" altLang="zh-TW" sz="1300" dirty="0">
                <a:hlinkClick r:id="rId2"/>
              </a:rPr>
              <a:t>/</a:t>
            </a:r>
            <a:r>
              <a:rPr lang="en-US" altLang="zh-TW" sz="1300" dirty="0"/>
              <a:t>)</a:t>
            </a:r>
            <a:endParaRPr lang="zh-TW" altLang="en-US" sz="1300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E992FE8A-2F9B-0FA9-E8EC-3D5C2409E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38095" y="1517894"/>
            <a:ext cx="7744818" cy="51085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3FF9C3C-70DC-EB04-475D-1AE8299B06BA}"/>
              </a:ext>
            </a:extLst>
          </p:cNvPr>
          <p:cNvSpPr/>
          <p:nvPr/>
        </p:nvSpPr>
        <p:spPr>
          <a:xfrm>
            <a:off x="691663" y="3692769"/>
            <a:ext cx="5404338" cy="1383324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r>
              <a:rPr lang="zh-TW" altLang="en-US" sz="1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都更提案方</a:t>
            </a:r>
            <a:r>
              <a:rPr lang="en-US" altLang="zh-TW" sz="1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建設公司</a:t>
            </a:r>
            <a:r>
              <a:rPr lang="en-US" altLang="zh-TW" sz="1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已有</a:t>
            </a:r>
            <a:endParaRPr lang="en-US" altLang="zh-TW" sz="16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雲端平台輔助：</a:t>
            </a:r>
            <a:endParaRPr lang="en-US" altLang="zh-TW" sz="16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產權與文件自動化</a:t>
            </a:r>
            <a:endParaRPr lang="en-US" altLang="zh-TW" sz="16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權利變換智能試算</a:t>
            </a:r>
            <a:endParaRPr lang="en-US" altLang="zh-TW" sz="16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1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公展陳情智慧防禦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16F4D1-BB4D-C19F-BA16-9FFA5433A516}"/>
              </a:ext>
            </a:extLst>
          </p:cNvPr>
          <p:cNvSpPr/>
          <p:nvPr/>
        </p:nvSpPr>
        <p:spPr>
          <a:xfrm>
            <a:off x="6096001" y="3692769"/>
            <a:ext cx="2286000" cy="1383324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r>
              <a:rPr lang="zh-TW" altLang="en-US" sz="16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都更審議方仍仰賴人工</a:t>
            </a:r>
          </a:p>
        </p:txBody>
      </p:sp>
    </p:spTree>
    <p:extLst>
      <p:ext uri="{BB962C8B-B14F-4D97-AF65-F5344CB8AC3E}">
        <p14:creationId xmlns:p14="http://schemas.microsoft.com/office/powerpoint/2010/main" val="2195507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92B5E5-2B64-35AE-41AD-DDEBDE4E8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都更審議長年痛點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70F418-729F-827F-7039-5DDA0CBC2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法規持續更新</a:t>
            </a:r>
            <a:endParaRPr lang="en-US" altLang="zh-TW" dirty="0"/>
          </a:p>
          <a:p>
            <a:r>
              <a:rPr lang="zh-TW" altLang="en-US" dirty="0"/>
              <a:t>審議曠日廢時</a:t>
            </a:r>
            <a:endParaRPr lang="en-US" altLang="zh-TW" dirty="0"/>
          </a:p>
          <a:p>
            <a:r>
              <a:rPr lang="zh-TW" altLang="en-US" dirty="0"/>
              <a:t>判決一致性難維持</a:t>
            </a:r>
            <a:endParaRPr lang="en-US" altLang="zh-TW" dirty="0"/>
          </a:p>
          <a:p>
            <a:r>
              <a:rPr lang="zh-TW" altLang="en-US" dirty="0"/>
              <a:t>資深承辦經驗難傳承</a:t>
            </a:r>
            <a:endParaRPr lang="en-US" altLang="zh-TW" dirty="0"/>
          </a:p>
          <a:p>
            <a:r>
              <a:rPr lang="zh-TW" altLang="en-US" dirty="0"/>
              <a:t>跨部門資料孤島</a:t>
            </a:r>
            <a:r>
              <a:rPr lang="en-US" altLang="zh-TW" dirty="0"/>
              <a:t> (Data Silos)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3415EED-59AE-3341-709D-45E349E53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842" y="3900804"/>
            <a:ext cx="7788315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63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2E646-1F11-9E4B-F79C-03EB5730F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C83DBE-6BF0-8C13-4ACF-115E9AC74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776" y="746760"/>
            <a:ext cx="7039404" cy="1040091"/>
          </a:xfrm>
        </p:spPr>
        <p:txBody>
          <a:bodyPr>
            <a:normAutofit/>
          </a:bodyPr>
          <a:lstStyle/>
          <a:p>
            <a:r>
              <a:rPr lang="zh-TW" altLang="en-US" dirty="0"/>
              <a:t>簡報大綱</a:t>
            </a:r>
            <a:endParaRPr kumimoji="1" lang="zh-TW" altLang="en-US" b="0" dirty="0">
              <a:solidFill>
                <a:schemeClr val="accent4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4150F0-7F95-8B1F-999F-206F1CCFF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776" y="2095946"/>
            <a:ext cx="7039404" cy="401529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公司簡介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目標市場需求評估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3600" b="1" dirty="0">
                <a:solidFill>
                  <a:schemeClr val="tx1"/>
                </a:solidFill>
              </a:rPr>
              <a:t>開發內容說明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無形資產引進與委託研究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競爭者分析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行銷策略規劃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獲利模式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預期效益說明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經費編列說明</a:t>
            </a:r>
          </a:p>
        </p:txBody>
      </p:sp>
    </p:spTree>
    <p:extLst>
      <p:ext uri="{BB962C8B-B14F-4D97-AF65-F5344CB8AC3E}">
        <p14:creationId xmlns:p14="http://schemas.microsoft.com/office/powerpoint/2010/main" val="1874045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B6179-F323-9179-E49D-5AFBCBDB2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4A94B1-F3D9-2FD0-DBE0-8D42FFD55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本案開發計劃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9DADF0F-8929-0E4F-7FD1-B0D6F5AA9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本案</a:t>
            </a:r>
            <a:r>
              <a:rPr lang="en-US" altLang="zh-TW" dirty="0"/>
              <a:t>&lt;</a:t>
            </a:r>
            <a:r>
              <a:rPr lang="zh-TW" altLang="en-US" dirty="0"/>
              <a:t>第一</a:t>
            </a:r>
            <a:r>
              <a:rPr lang="en-US" altLang="zh-TW" dirty="0"/>
              <a:t>(</a:t>
            </a:r>
            <a:r>
              <a:rPr lang="zh-TW" altLang="en-US" dirty="0"/>
              <a:t>年</a:t>
            </a:r>
            <a:r>
              <a:rPr lang="en-US" altLang="zh-TW" dirty="0"/>
              <a:t>)</a:t>
            </a:r>
            <a:r>
              <a:rPr lang="zh-TW" altLang="en-US" dirty="0"/>
              <a:t>期</a:t>
            </a:r>
            <a:r>
              <a:rPr lang="en-US" altLang="zh-TW" dirty="0"/>
              <a:t>&gt;</a:t>
            </a:r>
            <a:r>
              <a:rPr lang="zh-TW" altLang="en-US" dirty="0"/>
              <a:t>目標：報核協審</a:t>
            </a:r>
            <a:endParaRPr lang="en-US" altLang="zh-TW" dirty="0"/>
          </a:p>
          <a:p>
            <a:pPr lvl="1"/>
            <a:r>
              <a:rPr lang="zh-TW" altLang="en-US" dirty="0"/>
              <a:t>實際訪查都更審議承辦委員工作流程</a:t>
            </a:r>
            <a:r>
              <a:rPr lang="en-US" altLang="zh-TW" dirty="0"/>
              <a:t> (Task Decomposition)</a:t>
            </a:r>
          </a:p>
          <a:p>
            <a:pPr lvl="1"/>
            <a:r>
              <a:rPr lang="zh-TW" altLang="en-US" dirty="0"/>
              <a:t>審議資料表 </a:t>
            </a:r>
            <a:r>
              <a:rPr lang="en-US" altLang="zh-TW" dirty="0"/>
              <a:t>OCR </a:t>
            </a:r>
            <a:r>
              <a:rPr lang="zh-TW" altLang="en-US" dirty="0"/>
              <a:t>辨識、</a:t>
            </a:r>
            <a:r>
              <a:rPr lang="en-US" altLang="zh-TW" dirty="0"/>
              <a:t>gold set </a:t>
            </a:r>
            <a:r>
              <a:rPr lang="zh-TW" altLang="en-US" dirty="0"/>
              <a:t>標註供地端</a:t>
            </a:r>
            <a:r>
              <a:rPr lang="en-US" altLang="zh-TW" dirty="0"/>
              <a:t> VLM</a:t>
            </a:r>
            <a:r>
              <a:rPr lang="zh-TW" altLang="en-US" dirty="0"/>
              <a:t> 學習、代理式工作流程 </a:t>
            </a:r>
            <a:r>
              <a:rPr lang="en-US" altLang="zh-TW" dirty="0"/>
              <a:t>(Agentic Workflow)</a:t>
            </a:r>
            <a:r>
              <a:rPr lang="zh-TW" altLang="en-US" dirty="0"/>
              <a:t> 反覆迭代提升辨識準確度</a:t>
            </a:r>
            <a:endParaRPr lang="en-US" altLang="zh-TW" dirty="0"/>
          </a:p>
          <a:p>
            <a:pPr lvl="1"/>
            <a:r>
              <a:rPr lang="zh-TW" altLang="en-US" dirty="0"/>
              <a:t>臺北市都市更新審議服務平台線上申請系統介接</a:t>
            </a:r>
            <a:endParaRPr lang="en-US" altLang="zh-TW" dirty="0"/>
          </a:p>
          <a:p>
            <a:pPr lvl="1"/>
            <a:r>
              <a:rPr lang="zh-TW" altLang="en-US" dirty="0"/>
              <a:t>都更處</a:t>
            </a:r>
            <a:r>
              <a:rPr lang="en-US" altLang="zh-TW" dirty="0"/>
              <a:t>Orchestration Agent</a:t>
            </a:r>
          </a:p>
          <a:p>
            <a:pPr lvl="1"/>
            <a:r>
              <a:rPr lang="zh-TW" altLang="en-US" dirty="0"/>
              <a:t>可檢索都更法規知識庫</a:t>
            </a:r>
            <a:endParaRPr lang="en-US" altLang="zh-TW" dirty="0"/>
          </a:p>
          <a:p>
            <a:pPr lvl="1"/>
            <a:r>
              <a:rPr lang="en-US" altLang="zh-TW" dirty="0"/>
              <a:t>(</a:t>
            </a:r>
            <a:r>
              <a:rPr lang="zh-TW" altLang="en-US" dirty="0"/>
              <a:t>若需要</a:t>
            </a:r>
            <a:r>
              <a:rPr lang="en-US" altLang="zh-TW" dirty="0"/>
              <a:t>) </a:t>
            </a:r>
            <a:r>
              <a:rPr lang="zh-TW" altLang="en-US" dirty="0"/>
              <a:t>去識別化供 </a:t>
            </a:r>
            <a:r>
              <a:rPr lang="en-US" altLang="zh-TW" dirty="0"/>
              <a:t>AI </a:t>
            </a:r>
            <a:r>
              <a:rPr lang="zh-TW" altLang="en-US" dirty="0"/>
              <a:t>語意協審</a:t>
            </a:r>
            <a:endParaRPr lang="en-US" altLang="zh-TW" dirty="0"/>
          </a:p>
          <a:p>
            <a:pPr lvl="1"/>
            <a:r>
              <a:rPr lang="zh-TW" altLang="en-US" dirty="0"/>
              <a:t>運用規則引擎、</a:t>
            </a:r>
            <a:r>
              <a:rPr lang="en-US" altLang="zh-TW" dirty="0"/>
              <a:t>RAG</a:t>
            </a:r>
            <a:r>
              <a:rPr lang="zh-TW" altLang="en-US" dirty="0"/>
              <a:t>產出</a:t>
            </a:r>
            <a:r>
              <a:rPr lang="en-US" altLang="zh-TW" dirty="0"/>
              <a:t> AI</a:t>
            </a:r>
            <a:r>
              <a:rPr lang="zh-TW" altLang="en-US" dirty="0"/>
              <a:t> 協審報告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83951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81BDE-38E6-694A-6716-740BB847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0B2EF0-6267-C1ED-1F0D-81F93A2B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</a:t>
            </a:r>
            <a:r>
              <a:rPr lang="en-US" altLang="zh-TW" dirty="0"/>
              <a:t>(</a:t>
            </a:r>
            <a:r>
              <a:rPr lang="zh-TW" altLang="en-US" dirty="0"/>
              <a:t>年</a:t>
            </a:r>
            <a:r>
              <a:rPr lang="en-US" altLang="zh-TW" dirty="0"/>
              <a:t>)</a:t>
            </a:r>
            <a:r>
              <a:rPr lang="zh-TW" altLang="en-US" dirty="0"/>
              <a:t>期後續開發規劃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2A18288-1F06-28B8-6407-943F16742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&lt;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第二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年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)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期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&gt;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目標：決議累積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都更歷史個案知識庫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搜尋類似案例供決議參考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&lt;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第三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年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)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期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&gt;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目標：個案動態管理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MCP</a:t>
            </a:r>
          </a:p>
          <a:p>
            <a:pPr lvl="1"/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跨單位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AI 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多代理協作流程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(Multi-Agent Workflows)</a:t>
            </a:r>
          </a:p>
          <a:p>
            <a:pPr lvl="1"/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浮水印功能、電子簽證流程整合</a:t>
            </a:r>
          </a:p>
        </p:txBody>
      </p:sp>
    </p:spTree>
    <p:extLst>
      <p:ext uri="{BB962C8B-B14F-4D97-AF65-F5344CB8AC3E}">
        <p14:creationId xmlns:p14="http://schemas.microsoft.com/office/powerpoint/2010/main" val="180659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D2CE-27CE-4E52-B35C-F0C21A19F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2C8435-C66E-E8A3-7A5B-4CA772259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關鍵</a:t>
            </a:r>
            <a:r>
              <a:rPr lang="en-US" altLang="zh-TW" dirty="0"/>
              <a:t>AI</a:t>
            </a:r>
            <a:r>
              <a:rPr lang="zh-TW" altLang="en-US" dirty="0"/>
              <a:t>技術採用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831BACC-F6AE-239F-628E-05B2D2EE2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OCR (</a:t>
            </a:r>
            <a:r>
              <a:rPr lang="zh-TW" altLang="en-US" dirty="0"/>
              <a:t>高精細圖表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VLM</a:t>
            </a:r>
          </a:p>
          <a:p>
            <a:r>
              <a:rPr lang="en-US" altLang="zh-TW" dirty="0"/>
              <a:t>(</a:t>
            </a:r>
            <a:r>
              <a:rPr lang="zh-TW" altLang="en-US" dirty="0"/>
              <a:t>地端</a:t>
            </a:r>
            <a:r>
              <a:rPr lang="en-US" altLang="zh-TW" dirty="0"/>
              <a:t>) </a:t>
            </a:r>
            <a:r>
              <a:rPr lang="zh-TW" altLang="en-US" dirty="0"/>
              <a:t>主權</a:t>
            </a:r>
            <a:r>
              <a:rPr lang="en-US" altLang="zh-TW" dirty="0"/>
              <a:t>AI</a:t>
            </a:r>
          </a:p>
          <a:p>
            <a:r>
              <a:rPr lang="en-US" altLang="zh-TW" dirty="0"/>
              <a:t>LLM Wiki</a:t>
            </a:r>
          </a:p>
          <a:p>
            <a:r>
              <a:rPr lang="en-US" altLang="zh-TW" dirty="0"/>
              <a:t>RAG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MCP &lt;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第三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年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)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期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&gt;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Multi-Agent workflow &lt;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第三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年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)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期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&gt;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8286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870A0-1170-3C87-19B6-5FCB4C8E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8420A673-FD27-7B1A-22C7-3E24BA5652D8}"/>
              </a:ext>
            </a:extLst>
          </p:cNvPr>
          <p:cNvSpPr/>
          <p:nvPr/>
        </p:nvSpPr>
        <p:spPr>
          <a:xfrm>
            <a:off x="3372464" y="1543664"/>
            <a:ext cx="6213987" cy="4886633"/>
          </a:xfrm>
          <a:prstGeom prst="rect">
            <a:avLst/>
          </a:prstGeom>
          <a:solidFill>
            <a:schemeClr val="accent1">
              <a:alpha val="1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都更協審代理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DCAD33D-0F27-FC4D-F49F-E0816C2E4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都更處報核協審 </a:t>
            </a:r>
            <a:r>
              <a:rPr lang="en-US" altLang="zh-TW" dirty="0"/>
              <a:t>- </a:t>
            </a:r>
            <a:r>
              <a:rPr lang="zh-TW" altLang="en-US" dirty="0"/>
              <a:t>代理式工作流程</a:t>
            </a:r>
          </a:p>
        </p:txBody>
      </p:sp>
      <p:pic>
        <p:nvPicPr>
          <p:cNvPr id="3" name="內容版面配置區 2">
            <a:extLst>
              <a:ext uri="{FF2B5EF4-FFF2-40B4-BE49-F238E27FC236}">
                <a16:creationId xmlns:a16="http://schemas.microsoft.com/office/drawing/2014/main" id="{0EDD5460-5D49-21CE-33EB-8BFDAFE08D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1037" y="3812400"/>
            <a:ext cx="585216" cy="58521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B422D23-5B63-C883-10DC-40066FEAE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304" y="3813090"/>
            <a:ext cx="427343" cy="5868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6E9AA7B-93E3-22D3-9AE8-D9F1598B1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951" y="3813090"/>
            <a:ext cx="352080" cy="5868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E228D82B-AABD-B143-CD8D-65C7416647C4}"/>
              </a:ext>
            </a:extLst>
          </p:cNvPr>
          <p:cNvSpPr txBox="1"/>
          <p:nvPr/>
        </p:nvSpPr>
        <p:spPr>
          <a:xfrm>
            <a:off x="5276149" y="2084812"/>
            <a:ext cx="1645761" cy="10464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任務清單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辨識</a:t>
            </a:r>
            <a:endParaRPr kumimoji="0" lang="en-US" altLang="zh-TW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註記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 (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國有地、獎勵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…)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計算</a:t>
            </a:r>
            <a:endParaRPr kumimoji="0" lang="en-US" altLang="zh-TW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查詢</a:t>
            </a:r>
            <a:endParaRPr kumimoji="0" lang="en-US" altLang="zh-TW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產生協審報表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D331257-CC57-C135-1B23-4A41E53A3A74}"/>
              </a:ext>
            </a:extLst>
          </p:cNvPr>
          <p:cNvSpPr txBox="1"/>
          <p:nvPr/>
        </p:nvSpPr>
        <p:spPr>
          <a:xfrm>
            <a:off x="5276149" y="1559445"/>
            <a:ext cx="1645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(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依據審議資料表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規劃任務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D4085B3-8B8E-9F84-1FC4-FCDE7AD0859E}"/>
              </a:ext>
            </a:extLst>
          </p:cNvPr>
          <p:cNvCxnSpPr/>
          <p:nvPr/>
        </p:nvCxnSpPr>
        <p:spPr>
          <a:xfrm>
            <a:off x="6156137" y="3185652"/>
            <a:ext cx="0" cy="550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45FC1B8-021D-BF62-A63F-D0188982FDEB}"/>
              </a:ext>
            </a:extLst>
          </p:cNvPr>
          <p:cNvSpPr txBox="1"/>
          <p:nvPr/>
        </p:nvSpPr>
        <p:spPr>
          <a:xfrm>
            <a:off x="7682880" y="3637938"/>
            <a:ext cx="1645761" cy="10464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任務清單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辨識</a:t>
            </a:r>
            <a:endParaRPr kumimoji="0" lang="en-US" altLang="zh-TW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註記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 (</a:t>
            </a: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國有地、獎勵</a:t>
            </a: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…)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計算</a:t>
            </a:r>
            <a:endParaRPr kumimoji="0" lang="en-US" altLang="zh-TW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查詢</a:t>
            </a:r>
            <a:endParaRPr kumimoji="0" lang="en-US" altLang="zh-TW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產生協審報表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4FAE331-16FB-291D-E75E-03DC2514411D}"/>
              </a:ext>
            </a:extLst>
          </p:cNvPr>
          <p:cNvSpPr txBox="1"/>
          <p:nvPr/>
        </p:nvSpPr>
        <p:spPr>
          <a:xfrm>
            <a:off x="7682880" y="3328880"/>
            <a:ext cx="1645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解決任務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0744EBC9-4759-6210-6431-7A11CCCDAD6B}"/>
              </a:ext>
            </a:extLst>
          </p:cNvPr>
          <p:cNvCxnSpPr/>
          <p:nvPr/>
        </p:nvCxnSpPr>
        <p:spPr>
          <a:xfrm>
            <a:off x="6156137" y="4537586"/>
            <a:ext cx="0" cy="550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弧形 17">
            <a:extLst>
              <a:ext uri="{FF2B5EF4-FFF2-40B4-BE49-F238E27FC236}">
                <a16:creationId xmlns:a16="http://schemas.microsoft.com/office/drawing/2014/main" id="{EBF93ECF-E984-447C-6BA4-45E7CC63DC17}"/>
              </a:ext>
            </a:extLst>
          </p:cNvPr>
          <p:cNvSpPr/>
          <p:nvPr/>
        </p:nvSpPr>
        <p:spPr>
          <a:xfrm>
            <a:off x="6109718" y="2183136"/>
            <a:ext cx="2338934" cy="2156704"/>
          </a:xfrm>
          <a:prstGeom prst="arc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9" name="弧形 18">
            <a:extLst>
              <a:ext uri="{FF2B5EF4-FFF2-40B4-BE49-F238E27FC236}">
                <a16:creationId xmlns:a16="http://schemas.microsoft.com/office/drawing/2014/main" id="{73390776-2BF9-71D7-FE38-F05860835B73}"/>
              </a:ext>
            </a:extLst>
          </p:cNvPr>
          <p:cNvSpPr/>
          <p:nvPr/>
        </p:nvSpPr>
        <p:spPr>
          <a:xfrm rot="16200000">
            <a:off x="3788045" y="2250439"/>
            <a:ext cx="2338934" cy="2156704"/>
          </a:xfrm>
          <a:prstGeom prst="arc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0" name="弧形 19">
            <a:extLst>
              <a:ext uri="{FF2B5EF4-FFF2-40B4-BE49-F238E27FC236}">
                <a16:creationId xmlns:a16="http://schemas.microsoft.com/office/drawing/2014/main" id="{2C77260D-F282-6B09-A82C-270DD574D578}"/>
              </a:ext>
            </a:extLst>
          </p:cNvPr>
          <p:cNvSpPr/>
          <p:nvPr/>
        </p:nvSpPr>
        <p:spPr>
          <a:xfrm rot="5400000">
            <a:off x="6200833" y="3796596"/>
            <a:ext cx="2338934" cy="2156704"/>
          </a:xfrm>
          <a:prstGeom prst="arc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1" name="弧形 20">
            <a:extLst>
              <a:ext uri="{FF2B5EF4-FFF2-40B4-BE49-F238E27FC236}">
                <a16:creationId xmlns:a16="http://schemas.microsoft.com/office/drawing/2014/main" id="{5B522615-D8B8-FC53-B53C-61C37E3983AB}"/>
              </a:ext>
            </a:extLst>
          </p:cNvPr>
          <p:cNvSpPr/>
          <p:nvPr/>
        </p:nvSpPr>
        <p:spPr>
          <a:xfrm rot="10800000">
            <a:off x="3916087" y="3884468"/>
            <a:ext cx="2338934" cy="2156704"/>
          </a:xfrm>
          <a:prstGeom prst="arc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78541869-9D41-EBA5-A1F7-28F1684A2354}"/>
              </a:ext>
            </a:extLst>
          </p:cNvPr>
          <p:cNvCxnSpPr>
            <a:cxnSpLocks/>
          </p:cNvCxnSpPr>
          <p:nvPr/>
        </p:nvCxnSpPr>
        <p:spPr>
          <a:xfrm>
            <a:off x="6829646" y="4094033"/>
            <a:ext cx="550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圖片 23">
            <a:extLst>
              <a:ext uri="{FF2B5EF4-FFF2-40B4-BE49-F238E27FC236}">
                <a16:creationId xmlns:a16="http://schemas.microsoft.com/office/drawing/2014/main" id="{9A362B0F-E10B-9262-EDA6-36D129595F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9054" y="5554602"/>
            <a:ext cx="792000" cy="668800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96007389-1724-251D-5711-9806339BBB4B}"/>
              </a:ext>
            </a:extLst>
          </p:cNvPr>
          <p:cNvSpPr txBox="1"/>
          <p:nvPr/>
        </p:nvSpPr>
        <p:spPr>
          <a:xfrm>
            <a:off x="5323423" y="5286569"/>
            <a:ext cx="1645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評判任務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7D284F0-613D-BD33-2DDF-91F63E0A8784}"/>
              </a:ext>
            </a:extLst>
          </p:cNvPr>
          <p:cNvSpPr/>
          <p:nvPr/>
        </p:nvSpPr>
        <p:spPr>
          <a:xfrm>
            <a:off x="10193776" y="1543664"/>
            <a:ext cx="1516443" cy="4886633"/>
          </a:xfrm>
          <a:prstGeom prst="rect">
            <a:avLst/>
          </a:prstGeom>
          <a:solidFill>
            <a:schemeClr val="accent1">
              <a:alpha val="1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工具</a:t>
            </a: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CDE608A0-1103-9B46-E98D-54DFA91CBEE4}"/>
              </a:ext>
            </a:extLst>
          </p:cNvPr>
          <p:cNvCxnSpPr>
            <a:cxnSpLocks/>
          </p:cNvCxnSpPr>
          <p:nvPr/>
        </p:nvCxnSpPr>
        <p:spPr>
          <a:xfrm>
            <a:off x="9623312" y="4094033"/>
            <a:ext cx="550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圖片 30">
            <a:extLst>
              <a:ext uri="{FF2B5EF4-FFF2-40B4-BE49-F238E27FC236}">
                <a16:creationId xmlns:a16="http://schemas.microsoft.com/office/drawing/2014/main" id="{E4F5E144-B8BA-747D-6069-808B21707E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1471" y="1968843"/>
            <a:ext cx="586800" cy="586800"/>
          </a:xfrm>
          <a:prstGeom prst="rect">
            <a:avLst/>
          </a:prstGeom>
        </p:spPr>
      </p:pic>
      <p:sp>
        <p:nvSpPr>
          <p:cNvPr id="33" name="文字方塊 32">
            <a:extLst>
              <a:ext uri="{FF2B5EF4-FFF2-40B4-BE49-F238E27FC236}">
                <a16:creationId xmlns:a16="http://schemas.microsoft.com/office/drawing/2014/main" id="{58394DE0-2A5B-373D-DDAE-DF59DEDB284D}"/>
              </a:ext>
            </a:extLst>
          </p:cNvPr>
          <p:cNvSpPr txBox="1"/>
          <p:nvPr/>
        </p:nvSpPr>
        <p:spPr>
          <a:xfrm>
            <a:off x="8231990" y="2623186"/>
            <a:ext cx="1645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記憶</a:t>
            </a: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2D8EA230-229F-8580-4589-6842A3E82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8597" y="2232087"/>
            <a:ext cx="586800" cy="586800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FD854B88-F9C4-73A3-2CC7-825B9BE27A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5997" y="2897243"/>
            <a:ext cx="792000" cy="792000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A487A858-0482-FDEE-1D32-0682F6FAD3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2344" y="3816761"/>
            <a:ext cx="1219306" cy="1463167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4E5AF116-5856-777D-FD8D-AE0844CA9A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58597" y="5519496"/>
            <a:ext cx="586800" cy="586800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8B566487-ACC3-824F-A150-6176E120FF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9328" y="3812400"/>
            <a:ext cx="720000" cy="720000"/>
          </a:xfrm>
          <a:prstGeom prst="rect">
            <a:avLst/>
          </a:prstGeom>
        </p:spPr>
      </p:pic>
      <p:sp>
        <p:nvSpPr>
          <p:cNvPr id="44" name="文字方塊 43">
            <a:extLst>
              <a:ext uri="{FF2B5EF4-FFF2-40B4-BE49-F238E27FC236}">
                <a16:creationId xmlns:a16="http://schemas.microsoft.com/office/drawing/2014/main" id="{1C784232-6C4E-6F62-63C6-F176AB3FFBDB}"/>
              </a:ext>
            </a:extLst>
          </p:cNvPr>
          <p:cNvSpPr txBox="1"/>
          <p:nvPr/>
        </p:nvSpPr>
        <p:spPr>
          <a:xfrm>
            <a:off x="630350" y="4446776"/>
            <a:ext cx="1645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都更審議承辦</a:t>
            </a: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CB25A41E-B816-33FF-4AC3-CAA5B2CDF97A}"/>
              </a:ext>
            </a:extLst>
          </p:cNvPr>
          <p:cNvCxnSpPr>
            <a:cxnSpLocks/>
          </p:cNvCxnSpPr>
          <p:nvPr/>
        </p:nvCxnSpPr>
        <p:spPr>
          <a:xfrm>
            <a:off x="2041280" y="4094033"/>
            <a:ext cx="1006720" cy="0"/>
          </a:xfrm>
          <a:prstGeom prst="straightConnector1">
            <a:avLst/>
          </a:prstGeom>
          <a:ln>
            <a:solidFill>
              <a:schemeClr val="accent4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9EE9793F-566C-9B54-35D7-F081B3A68E35}"/>
              </a:ext>
            </a:extLst>
          </p:cNvPr>
          <p:cNvCxnSpPr>
            <a:cxnSpLocks/>
          </p:cNvCxnSpPr>
          <p:nvPr/>
        </p:nvCxnSpPr>
        <p:spPr>
          <a:xfrm flipH="1">
            <a:off x="2041200" y="4266098"/>
            <a:ext cx="1008000" cy="0"/>
          </a:xfrm>
          <a:prstGeom prst="straightConnector1">
            <a:avLst/>
          </a:prstGeom>
          <a:ln>
            <a:solidFill>
              <a:schemeClr val="accent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17DB7E72-D7BC-6866-2ED9-44150441173B}"/>
              </a:ext>
            </a:extLst>
          </p:cNvPr>
          <p:cNvSpPr txBox="1"/>
          <p:nvPr/>
        </p:nvSpPr>
        <p:spPr>
          <a:xfrm>
            <a:off x="1735676" y="3559278"/>
            <a:ext cx="1645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事業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/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權益變換</a:t>
            </a:r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計劃書上傳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6EDA733-7712-8E09-FC67-C7CA778C5745}"/>
              </a:ext>
            </a:extLst>
          </p:cNvPr>
          <p:cNvSpPr txBox="1"/>
          <p:nvPr/>
        </p:nvSpPr>
        <p:spPr>
          <a:xfrm>
            <a:off x="1736478" y="4284142"/>
            <a:ext cx="1645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AI 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協審報表</a:t>
            </a:r>
          </a:p>
        </p:txBody>
      </p:sp>
    </p:spTree>
    <p:extLst>
      <p:ext uri="{BB962C8B-B14F-4D97-AF65-F5344CB8AC3E}">
        <p14:creationId xmlns:p14="http://schemas.microsoft.com/office/powerpoint/2010/main" val="454024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1144E-12B2-7FD0-82B1-20A2EB2C8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A63D0-4480-924A-0DE3-80CD03334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跨單位 </a:t>
            </a:r>
            <a:r>
              <a:rPr lang="en-US" altLang="zh-TW" dirty="0"/>
              <a:t>AI </a:t>
            </a:r>
            <a:r>
              <a:rPr lang="zh-TW" altLang="en-US" dirty="0"/>
              <a:t>多代理協作流程</a:t>
            </a:r>
            <a:r>
              <a:rPr lang="en-US" altLang="zh-TW" dirty="0"/>
              <a:t>&lt;</a:t>
            </a:r>
            <a:r>
              <a:rPr lang="zh-TW" altLang="en-US" dirty="0"/>
              <a:t>第三</a:t>
            </a:r>
            <a:r>
              <a:rPr lang="en-US" altLang="zh-TW" dirty="0"/>
              <a:t>(</a:t>
            </a:r>
            <a:r>
              <a:rPr lang="zh-TW" altLang="en-US" dirty="0"/>
              <a:t>年</a:t>
            </a:r>
            <a:r>
              <a:rPr lang="en-US" altLang="zh-TW" dirty="0"/>
              <a:t>)</a:t>
            </a:r>
            <a:r>
              <a:rPr lang="zh-TW" altLang="en-US" dirty="0"/>
              <a:t>期</a:t>
            </a:r>
            <a:r>
              <a:rPr lang="en-US" altLang="zh-TW" dirty="0"/>
              <a:t>&gt;</a:t>
            </a:r>
            <a:endParaRPr lang="zh-TW" altLang="en-US" dirty="0"/>
          </a:p>
        </p:txBody>
      </p:sp>
      <p:pic>
        <p:nvPicPr>
          <p:cNvPr id="3" name="內容版面配置區 2">
            <a:extLst>
              <a:ext uri="{FF2B5EF4-FFF2-40B4-BE49-F238E27FC236}">
                <a16:creationId xmlns:a16="http://schemas.microsoft.com/office/drawing/2014/main" id="{6E700627-1EC1-D38D-60ED-B7B0D926F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1037" y="3812400"/>
            <a:ext cx="585216" cy="585216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4B5994F6-AE10-B922-63D7-8301F85BAF7F}"/>
              </a:ext>
            </a:extLst>
          </p:cNvPr>
          <p:cNvSpPr/>
          <p:nvPr/>
        </p:nvSpPr>
        <p:spPr>
          <a:xfrm>
            <a:off x="10193776" y="1543664"/>
            <a:ext cx="1516443" cy="4886633"/>
          </a:xfrm>
          <a:prstGeom prst="rect">
            <a:avLst/>
          </a:prstGeom>
          <a:solidFill>
            <a:schemeClr val="accent1">
              <a:alpha val="1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工具</a:t>
            </a: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5C12C57B-AD02-A9DA-88BD-6D78CCF1B1FD}"/>
              </a:ext>
            </a:extLst>
          </p:cNvPr>
          <p:cNvCxnSpPr>
            <a:cxnSpLocks/>
          </p:cNvCxnSpPr>
          <p:nvPr/>
        </p:nvCxnSpPr>
        <p:spPr>
          <a:xfrm>
            <a:off x="9623312" y="4094033"/>
            <a:ext cx="550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圖片 34">
            <a:extLst>
              <a:ext uri="{FF2B5EF4-FFF2-40B4-BE49-F238E27FC236}">
                <a16:creationId xmlns:a16="http://schemas.microsoft.com/office/drawing/2014/main" id="{359B2304-9B52-FCAE-E17F-4B915E9A2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8597" y="2232087"/>
            <a:ext cx="586800" cy="586800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3B2DF952-4F25-2B08-C8F1-EFDE44526E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5997" y="2897243"/>
            <a:ext cx="792000" cy="792000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EEB31700-A748-93EF-44BC-8933CDC736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2344" y="3816761"/>
            <a:ext cx="1219306" cy="1463167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DED90619-048C-3CE1-FAB3-85068BBDAB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8597" y="5519496"/>
            <a:ext cx="586800" cy="586800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95B70037-5124-78A5-0907-B73AE7E396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9328" y="3812400"/>
            <a:ext cx="720000" cy="720000"/>
          </a:xfrm>
          <a:prstGeom prst="rect">
            <a:avLst/>
          </a:prstGeom>
        </p:spPr>
      </p:pic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E4642AC9-7033-C7BD-F215-80B305CF86D1}"/>
              </a:ext>
            </a:extLst>
          </p:cNvPr>
          <p:cNvCxnSpPr>
            <a:cxnSpLocks/>
          </p:cNvCxnSpPr>
          <p:nvPr/>
        </p:nvCxnSpPr>
        <p:spPr>
          <a:xfrm>
            <a:off x="2041280" y="4094033"/>
            <a:ext cx="1006720" cy="0"/>
          </a:xfrm>
          <a:prstGeom prst="straightConnector1">
            <a:avLst/>
          </a:prstGeom>
          <a:ln>
            <a:solidFill>
              <a:schemeClr val="accent4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228094E7-D1ED-F571-DCD9-4D089F8D2FCF}"/>
              </a:ext>
            </a:extLst>
          </p:cNvPr>
          <p:cNvCxnSpPr>
            <a:cxnSpLocks/>
          </p:cNvCxnSpPr>
          <p:nvPr/>
        </p:nvCxnSpPr>
        <p:spPr>
          <a:xfrm flipH="1">
            <a:off x="2041200" y="4266098"/>
            <a:ext cx="1008000" cy="0"/>
          </a:xfrm>
          <a:prstGeom prst="straightConnector1">
            <a:avLst/>
          </a:prstGeom>
          <a:ln>
            <a:solidFill>
              <a:schemeClr val="accent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BAFA3-2A4B-8FFE-E180-91901FE37E03}"/>
              </a:ext>
            </a:extLst>
          </p:cNvPr>
          <p:cNvSpPr txBox="1"/>
          <p:nvPr/>
        </p:nvSpPr>
        <p:spPr>
          <a:xfrm>
            <a:off x="1735676" y="3559278"/>
            <a:ext cx="1645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事業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/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權益變換</a:t>
            </a:r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計劃書上傳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9732C5F9-F6AD-41CF-01CC-33970F68665B}"/>
              </a:ext>
            </a:extLst>
          </p:cNvPr>
          <p:cNvSpPr txBox="1"/>
          <p:nvPr/>
        </p:nvSpPr>
        <p:spPr>
          <a:xfrm>
            <a:off x="1736478" y="4284142"/>
            <a:ext cx="1645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AI 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協審報表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908A8E7-9949-9359-701A-4FD0FFE6B9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3861" y="1453668"/>
            <a:ext cx="572070" cy="72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0174BA9-3CC6-31F8-69BE-DBD07AE65A1D}"/>
              </a:ext>
            </a:extLst>
          </p:cNvPr>
          <p:cNvSpPr txBox="1"/>
          <p:nvPr/>
        </p:nvSpPr>
        <p:spPr>
          <a:xfrm>
            <a:off x="3046447" y="4446000"/>
            <a:ext cx="16457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都更處</a:t>
            </a:r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Orchestration Agent</a:t>
            </a:r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5D78B59-32F3-CE9C-F31C-48D5A07F94E0}"/>
              </a:ext>
            </a:extLst>
          </p:cNvPr>
          <p:cNvSpPr txBox="1"/>
          <p:nvPr/>
        </p:nvSpPr>
        <p:spPr>
          <a:xfrm>
            <a:off x="5892523" y="1552058"/>
            <a:ext cx="3600000" cy="52322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地政局</a:t>
            </a: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Agent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(</a:t>
            </a:r>
            <a:r>
              <a:rPr lang="zh-TW" altLang="en-US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權利價值與估價、土地公告現值</a:t>
            </a: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…)</a:t>
            </a:r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D1EFF4F-C60D-C557-CDB4-0318E8D772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3861" y="2216094"/>
            <a:ext cx="572070" cy="7200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B1F8E644-156C-65EC-67C7-BA78A9EA1D82}"/>
              </a:ext>
            </a:extLst>
          </p:cNvPr>
          <p:cNvSpPr txBox="1"/>
          <p:nvPr/>
        </p:nvSpPr>
        <p:spPr>
          <a:xfrm>
            <a:off x="5892523" y="2314484"/>
            <a:ext cx="3600000" cy="52322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財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政局</a:t>
            </a: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Agent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(</a:t>
            </a:r>
            <a:r>
              <a:rPr lang="zh-TW" altLang="en-US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市有資產管理</a:t>
            </a: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…)</a:t>
            </a:r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318DC531-29AD-F0D8-AF8E-3A19370F4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3861" y="2978520"/>
            <a:ext cx="572070" cy="720000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55EF5D80-BEB8-A373-4EFE-189A4CBCB983}"/>
              </a:ext>
            </a:extLst>
          </p:cNvPr>
          <p:cNvSpPr txBox="1"/>
          <p:nvPr/>
        </p:nvSpPr>
        <p:spPr>
          <a:xfrm>
            <a:off x="5892523" y="3076910"/>
            <a:ext cx="3600000" cy="52322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財政部國有財產署</a:t>
            </a: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Agent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(</a:t>
            </a:r>
            <a:r>
              <a:rPr lang="zh-TW" altLang="en-US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國有土地參與都更的配合與權利分配</a:t>
            </a: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…)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C5073EA2-BE01-5D1D-2FD3-03A449CAA5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3861" y="3740946"/>
            <a:ext cx="572070" cy="720000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6F6F5D68-3E10-170B-23CB-44E152ED4F99}"/>
              </a:ext>
            </a:extLst>
          </p:cNvPr>
          <p:cNvSpPr txBox="1"/>
          <p:nvPr/>
        </p:nvSpPr>
        <p:spPr>
          <a:xfrm>
            <a:off x="5892523" y="3839336"/>
            <a:ext cx="3600000" cy="52322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交通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局</a:t>
            </a: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Agent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(</a:t>
            </a:r>
            <a:r>
              <a:rPr lang="zh-TW" altLang="en-US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停車位超過數量時提交通維持配套計畫</a:t>
            </a: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…)</a:t>
            </a: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B5435B7A-E79F-F436-803D-608B9C3A83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3861" y="4503158"/>
            <a:ext cx="572070" cy="720000"/>
          </a:xfrm>
          <a:prstGeom prst="rect">
            <a:avLst/>
          </a:prstGeom>
        </p:spPr>
      </p:pic>
      <p:sp>
        <p:nvSpPr>
          <p:cNvPr id="34" name="文字方塊 33">
            <a:extLst>
              <a:ext uri="{FF2B5EF4-FFF2-40B4-BE49-F238E27FC236}">
                <a16:creationId xmlns:a16="http://schemas.microsoft.com/office/drawing/2014/main" id="{4A7E0520-4923-9496-48C4-B69BF376CB59}"/>
              </a:ext>
            </a:extLst>
          </p:cNvPr>
          <p:cNvSpPr txBox="1"/>
          <p:nvPr/>
        </p:nvSpPr>
        <p:spPr>
          <a:xfrm>
            <a:off x="5892522" y="4601548"/>
            <a:ext cx="3600000" cy="52322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工務局</a:t>
            </a: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Agent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(</a:t>
            </a:r>
            <a:r>
              <a:rPr lang="zh-TW" altLang="en-US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公共設施用地變更、樹木保護，容獎回饋</a:t>
            </a: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…)</a:t>
            </a:r>
            <a:endParaRPr kumimoji="0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1E00AFFE-FD86-F732-F98A-D1611F771A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2448" y="5265370"/>
            <a:ext cx="572070" cy="720000"/>
          </a:xfrm>
          <a:prstGeom prst="rect">
            <a:avLst/>
          </a:prstGeom>
        </p:spPr>
      </p:pic>
      <p:sp>
        <p:nvSpPr>
          <p:cNvPr id="38" name="文字方塊 37">
            <a:extLst>
              <a:ext uri="{FF2B5EF4-FFF2-40B4-BE49-F238E27FC236}">
                <a16:creationId xmlns:a16="http://schemas.microsoft.com/office/drawing/2014/main" id="{EEDB82DC-B424-3155-02AC-0A50A74074F9}"/>
              </a:ext>
            </a:extLst>
          </p:cNvPr>
          <p:cNvSpPr txBox="1"/>
          <p:nvPr/>
        </p:nvSpPr>
        <p:spPr>
          <a:xfrm>
            <a:off x="5891110" y="5363760"/>
            <a:ext cx="36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文化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局</a:t>
            </a: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Agent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開發利益與文資保存的權衡</a:t>
            </a: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…)</a:t>
            </a: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FCFF972B-ED4C-9220-F1EA-717FD0EAA4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2448" y="6027582"/>
            <a:ext cx="572070" cy="720000"/>
          </a:xfrm>
          <a:prstGeom prst="rect">
            <a:avLst/>
          </a:prstGeom>
        </p:spPr>
      </p:pic>
      <p:sp>
        <p:nvSpPr>
          <p:cNvPr id="40" name="文字方塊 39">
            <a:extLst>
              <a:ext uri="{FF2B5EF4-FFF2-40B4-BE49-F238E27FC236}">
                <a16:creationId xmlns:a16="http://schemas.microsoft.com/office/drawing/2014/main" id="{B2F4CF77-56F7-33A8-FFA3-6532D3F22F92}"/>
              </a:ext>
            </a:extLst>
          </p:cNvPr>
          <p:cNvSpPr txBox="1"/>
          <p:nvPr/>
        </p:nvSpPr>
        <p:spPr>
          <a:xfrm>
            <a:off x="5891111" y="6125972"/>
            <a:ext cx="20912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dirty="0">
                <a:solidFill>
                  <a:prstClr val="black"/>
                </a:solidFill>
                <a:latin typeface="Aptos" panose="02110004020202020204"/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1F9BF3E-0D47-682B-88D9-9471063B7574}"/>
              </a:ext>
            </a:extLst>
          </p:cNvPr>
          <p:cNvSpPr txBox="1"/>
          <p:nvPr/>
        </p:nvSpPr>
        <p:spPr>
          <a:xfrm>
            <a:off x="630350" y="4446776"/>
            <a:ext cx="1645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t>都更審議承辦</a:t>
            </a:r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71059A76-6202-B954-2D10-C6B660CC995D}"/>
              </a:ext>
            </a:extLst>
          </p:cNvPr>
          <p:cNvCxnSpPr>
            <a:cxnSpLocks/>
          </p:cNvCxnSpPr>
          <p:nvPr/>
        </p:nvCxnSpPr>
        <p:spPr>
          <a:xfrm>
            <a:off x="4347983" y="4093200"/>
            <a:ext cx="550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647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DE9AE-D1E4-BB1C-408D-0C791AD03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AI</a:t>
            </a:r>
            <a:r>
              <a:rPr lang="zh-TW" altLang="en-US" dirty="0"/>
              <a:t> 邊界與爭議處理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051216-DD09-A262-B32C-878189D85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遵循「協審」原則</a:t>
            </a:r>
            <a:endParaRPr lang="en-US" altLang="zh-TW" dirty="0"/>
          </a:p>
          <a:p>
            <a:r>
              <a:rPr lang="zh-TW" altLang="en-US" dirty="0"/>
              <a:t>讓 </a:t>
            </a:r>
            <a:r>
              <a:rPr lang="en-US" altLang="zh-TW" dirty="0"/>
              <a:t>AI </a:t>
            </a:r>
            <a:r>
              <a:rPr lang="zh-TW" altLang="en-US" dirty="0"/>
              <a:t>做「無關民眾利益」的決策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2183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F1998-F9A1-736E-B7F2-50A1F057E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1A4D3-7036-D2E9-20B7-B79C27BE7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776" y="746760"/>
            <a:ext cx="7039404" cy="1040091"/>
          </a:xfrm>
        </p:spPr>
        <p:txBody>
          <a:bodyPr>
            <a:normAutofit/>
          </a:bodyPr>
          <a:lstStyle/>
          <a:p>
            <a:r>
              <a:rPr lang="zh-TW" altLang="en-US" dirty="0"/>
              <a:t>簡報大綱</a:t>
            </a:r>
            <a:endParaRPr kumimoji="1" lang="zh-TW" altLang="en-US" b="0" dirty="0">
              <a:solidFill>
                <a:schemeClr val="accent4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ECB41E-6192-21F2-9E54-332370D37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776" y="2095946"/>
            <a:ext cx="7039404" cy="401529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公司簡介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目標市場需求評估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開發內容說明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3600" b="1" dirty="0">
                <a:solidFill>
                  <a:schemeClr val="tx1"/>
                </a:solidFill>
              </a:rPr>
              <a:t>無形資產引進與委託研究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競爭者分析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行銷策略規劃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獲利模式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預期效益說明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經費編列說明</a:t>
            </a:r>
          </a:p>
        </p:txBody>
      </p:sp>
    </p:spTree>
    <p:extLst>
      <p:ext uri="{BB962C8B-B14F-4D97-AF65-F5344CB8AC3E}">
        <p14:creationId xmlns:p14="http://schemas.microsoft.com/office/powerpoint/2010/main" val="3079656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D12F9-B394-3ED2-2F51-740356906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C60D9E-09FC-836B-E9A1-EE4BD6FF4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無形資產引進與委託研究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630445-3E34-03FD-F46D-1F00837C7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VLM</a:t>
            </a:r>
          </a:p>
          <a:p>
            <a:r>
              <a:rPr lang="en-US" altLang="zh-TW" dirty="0"/>
              <a:t>OCR (</a:t>
            </a:r>
            <a:r>
              <a:rPr lang="zh-TW" altLang="en-US" dirty="0"/>
              <a:t>高精細圖表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主權</a:t>
            </a:r>
            <a:r>
              <a:rPr lang="en-US" altLang="zh-TW" dirty="0"/>
              <a:t>AI LLM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7097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65E3D-7E52-20A2-7357-30D148BA7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9017E1-B63C-34D5-8406-98F592788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776" y="746760"/>
            <a:ext cx="7039404" cy="1040091"/>
          </a:xfrm>
        </p:spPr>
        <p:txBody>
          <a:bodyPr>
            <a:normAutofit/>
          </a:bodyPr>
          <a:lstStyle/>
          <a:p>
            <a:r>
              <a:rPr lang="zh-TW" altLang="en-US" dirty="0"/>
              <a:t>簡報大綱</a:t>
            </a:r>
            <a:endParaRPr kumimoji="1" lang="zh-TW" altLang="en-US" b="0" dirty="0">
              <a:solidFill>
                <a:schemeClr val="accent4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F55624-04B2-2643-B305-350768E5D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776" y="2095946"/>
            <a:ext cx="7039404" cy="401529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公司簡介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目標市場需求評估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開發內容說明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無形資產引進與委託研究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3600" b="1" dirty="0">
                <a:solidFill>
                  <a:schemeClr val="tx1"/>
                </a:solidFill>
              </a:rPr>
              <a:t>競爭者分析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行銷策略規劃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獲利模式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預期效益說明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經費編列說明</a:t>
            </a:r>
          </a:p>
        </p:txBody>
      </p:sp>
    </p:spTree>
    <p:extLst>
      <p:ext uri="{BB962C8B-B14F-4D97-AF65-F5344CB8AC3E}">
        <p14:creationId xmlns:p14="http://schemas.microsoft.com/office/powerpoint/2010/main" val="2144502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EAC3-8313-8A42-C51D-0F32AE3B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F22F7E-9A66-976E-A390-0971E221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競爭者分析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5021876-E1D4-9647-C3EA-998A5D361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市場上目前並沒有類似的解決方案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備註一：</a:t>
            </a:r>
            <a:r>
              <a:rPr lang="zh-TW" altLang="en-US" b="1" dirty="0">
                <a:solidFill>
                  <a:schemeClr val="accent1"/>
                </a:solidFill>
              </a:rPr>
              <a:t>安然都更雲</a:t>
            </a:r>
            <a:r>
              <a:rPr lang="zh-TW" altLang="en-US" dirty="0"/>
              <a:t>針對</a:t>
            </a:r>
            <a:r>
              <a:rPr lang="zh-TW" altLang="en-US" b="1" dirty="0">
                <a:solidFill>
                  <a:schemeClr val="accent1"/>
                </a:solidFill>
              </a:rPr>
              <a:t>建設公司</a:t>
            </a:r>
            <a:r>
              <a:rPr lang="zh-TW" altLang="en-US" dirty="0"/>
              <a:t>輔助</a:t>
            </a:r>
            <a:r>
              <a:rPr lang="zh-TW" altLang="en-US" b="1" dirty="0">
                <a:solidFill>
                  <a:schemeClr val="accent1"/>
                </a:solidFill>
              </a:rPr>
              <a:t>都更申請</a:t>
            </a:r>
            <a:r>
              <a:rPr lang="zh-TW" altLang="en-US" dirty="0"/>
              <a:t>；</a:t>
            </a:r>
            <a:r>
              <a:rPr lang="zh-TW" altLang="en-US" b="1" dirty="0">
                <a:solidFill>
                  <a:schemeClr val="accent1"/>
                </a:solidFill>
              </a:rPr>
              <a:t>本計畫</a:t>
            </a:r>
            <a:r>
              <a:rPr lang="zh-TW" altLang="en-US" dirty="0"/>
              <a:t>針對</a:t>
            </a:r>
            <a:r>
              <a:rPr lang="zh-TW" altLang="en-US" b="1" dirty="0">
                <a:solidFill>
                  <a:schemeClr val="accent1"/>
                </a:solidFill>
              </a:rPr>
              <a:t>都更處</a:t>
            </a:r>
            <a:r>
              <a:rPr lang="zh-TW" altLang="en-US" dirty="0"/>
              <a:t>輔助</a:t>
            </a:r>
            <a:r>
              <a:rPr lang="zh-TW" altLang="en-US" b="1" dirty="0">
                <a:solidFill>
                  <a:schemeClr val="accent1"/>
                </a:solidFill>
              </a:rPr>
              <a:t>都更審議</a:t>
            </a:r>
            <a:r>
              <a:rPr lang="zh-TW" altLang="en-US" dirty="0"/>
              <a:t>。共同目標為加速都更進程、創造社會褔利。</a:t>
            </a:r>
            <a:endParaRPr lang="en-US" altLang="zh-TW" dirty="0"/>
          </a:p>
          <a:p>
            <a:r>
              <a:rPr lang="zh-TW" altLang="en-US" dirty="0"/>
              <a:t>備註二：臺北市</a:t>
            </a:r>
            <a:r>
              <a:rPr lang="zh-TW" altLang="en-US" b="1" dirty="0">
                <a:solidFill>
                  <a:schemeClr val="accent1"/>
                </a:solidFill>
              </a:rPr>
              <a:t>都市更新審議服務平台</a:t>
            </a:r>
            <a:r>
              <a:rPr lang="zh-TW" altLang="en-US" dirty="0"/>
              <a:t>線上申請系統：台北市自 </a:t>
            </a:r>
            <a:r>
              <a:rPr lang="en-US" altLang="zh-TW" dirty="0"/>
              <a:t>2025 </a:t>
            </a:r>
            <a:r>
              <a:rPr lang="zh-TW" altLang="en-US" dirty="0"/>
              <a:t>年 </a:t>
            </a:r>
            <a:r>
              <a:rPr lang="en-US" altLang="zh-TW" dirty="0"/>
              <a:t>2 </a:t>
            </a:r>
            <a:r>
              <a:rPr lang="zh-TW" altLang="en-US" dirty="0"/>
              <a:t>月</a:t>
            </a:r>
            <a:r>
              <a:rPr lang="en-US" altLang="zh-TW" dirty="0"/>
              <a:t> 10 </a:t>
            </a:r>
            <a:r>
              <a:rPr lang="zh-TW" altLang="en-US" dirty="0"/>
              <a:t>日起已正式實施全面線上掛件。系統導入線上化申請，目的就是為了解決審議過程中因規劃調整，導致必須連動修正建築設計、財務計畫及權利變換分配的海量人工重複核對工作。</a:t>
            </a:r>
            <a:r>
              <a:rPr lang="zh-TW" altLang="en-US" b="1" dirty="0">
                <a:solidFill>
                  <a:schemeClr val="accent1"/>
                </a:solidFill>
              </a:rPr>
              <a:t>線上掛件申請</a:t>
            </a:r>
            <a:r>
              <a:rPr lang="zh-TW" altLang="en-US" dirty="0">
                <a:solidFill>
                  <a:schemeClr val="tx1"/>
                </a:solidFill>
              </a:rPr>
              <a:t>有利於本計畫</a:t>
            </a:r>
            <a:r>
              <a:rPr lang="zh-TW" altLang="en-US" b="1" dirty="0">
                <a:solidFill>
                  <a:schemeClr val="accent1"/>
                </a:solidFill>
              </a:rPr>
              <a:t>系統介接</a:t>
            </a:r>
            <a:r>
              <a:rPr lang="zh-TW" altLang="en-US" b="1" dirty="0">
                <a:solidFill>
                  <a:schemeClr val="tx1"/>
                </a:solidFill>
              </a:rPr>
              <a:t>、</a:t>
            </a:r>
            <a:r>
              <a:rPr lang="zh-TW" altLang="en-US" b="1" dirty="0">
                <a:solidFill>
                  <a:schemeClr val="accent1"/>
                </a:solidFill>
              </a:rPr>
              <a:t>審議資料表資料標註</a:t>
            </a:r>
            <a:r>
              <a:rPr lang="zh-TW" altLang="en-US" dirty="0">
                <a:solidFill>
                  <a:schemeClr val="tx1"/>
                </a:solidFill>
              </a:rPr>
              <a:t>與</a:t>
            </a:r>
            <a:r>
              <a:rPr lang="zh-TW" altLang="en-US" b="1" dirty="0">
                <a:solidFill>
                  <a:schemeClr val="accent1"/>
                </a:solidFill>
              </a:rPr>
              <a:t>規劃調整連動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55595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0AECB-6DD7-7CFC-2E34-F8F666F23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B6EAEB-FC48-939C-3036-128F20861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776" y="746760"/>
            <a:ext cx="7039404" cy="1040091"/>
          </a:xfrm>
        </p:spPr>
        <p:txBody>
          <a:bodyPr>
            <a:normAutofit/>
          </a:bodyPr>
          <a:lstStyle/>
          <a:p>
            <a:r>
              <a:rPr lang="zh-TW" altLang="en-US" dirty="0"/>
              <a:t>簡報大綱</a:t>
            </a:r>
            <a:endParaRPr kumimoji="1" lang="zh-TW" altLang="en-US" b="0" dirty="0">
              <a:solidFill>
                <a:schemeClr val="accent4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EC5836-CFAB-CE42-33D1-C64875D29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776" y="2095946"/>
            <a:ext cx="7039404" cy="401529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公司簡介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目標市場需求評估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開發內容說明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無形資產引進與委託研究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競爭者分析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3600" b="1" dirty="0">
                <a:solidFill>
                  <a:schemeClr val="tx1"/>
                </a:solidFill>
              </a:rPr>
              <a:t>行銷策略規劃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獲利模式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預期效益說明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經費編列說明</a:t>
            </a:r>
          </a:p>
        </p:txBody>
      </p:sp>
    </p:spTree>
    <p:extLst>
      <p:ext uri="{BB962C8B-B14F-4D97-AF65-F5344CB8AC3E}">
        <p14:creationId xmlns:p14="http://schemas.microsoft.com/office/powerpoint/2010/main" val="243035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4D93C-5E80-90D6-FAFC-32DE0D77F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AEECFA-C9A8-44F3-43ED-A8A3D9B32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行銷策略規劃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16F0BE8-5453-55CD-2498-AE5B1ECD4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8414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67F9-EF0A-1DFB-8440-D0052A578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7DEB73-6B3E-2864-00A7-1D1E639C8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776" y="746760"/>
            <a:ext cx="7039404" cy="1040091"/>
          </a:xfrm>
        </p:spPr>
        <p:txBody>
          <a:bodyPr>
            <a:normAutofit/>
          </a:bodyPr>
          <a:lstStyle/>
          <a:p>
            <a:r>
              <a:rPr lang="zh-TW" altLang="en-US" dirty="0"/>
              <a:t>簡報大綱</a:t>
            </a:r>
            <a:endParaRPr kumimoji="1" lang="zh-TW" altLang="en-US" b="0" dirty="0">
              <a:solidFill>
                <a:schemeClr val="accent4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301C2B-0376-C57D-715C-D8194FD0A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776" y="2095946"/>
            <a:ext cx="7039404" cy="401529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公司簡介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目標市場需求評估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開發內容說明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無形資產引進與委託研究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競爭者分析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行銷策略規劃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3600" b="1" dirty="0">
                <a:solidFill>
                  <a:schemeClr val="tx1"/>
                </a:solidFill>
              </a:rPr>
              <a:t>獲利模式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預期效益說明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經費編列說明</a:t>
            </a:r>
          </a:p>
        </p:txBody>
      </p:sp>
    </p:spTree>
    <p:extLst>
      <p:ext uri="{BB962C8B-B14F-4D97-AF65-F5344CB8AC3E}">
        <p14:creationId xmlns:p14="http://schemas.microsoft.com/office/powerpoint/2010/main" val="4074809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E936C-6087-485D-EBF2-7DDF40DFE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ECB2AC-069C-B21E-1727-957FD9A31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獲利模式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206AADD-1AEE-3EB5-64CD-514779FDB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依都更案量，依序推動六都及各縣市政府都更審議單位</a:t>
            </a:r>
          </a:p>
        </p:txBody>
      </p:sp>
    </p:spTree>
    <p:extLst>
      <p:ext uri="{BB962C8B-B14F-4D97-AF65-F5344CB8AC3E}">
        <p14:creationId xmlns:p14="http://schemas.microsoft.com/office/powerpoint/2010/main" val="22417197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25843-C284-395F-E5B3-7EC25B373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D4C826-70C2-DBD0-521B-3EEF49555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776" y="746760"/>
            <a:ext cx="7039404" cy="1040091"/>
          </a:xfrm>
        </p:spPr>
        <p:txBody>
          <a:bodyPr>
            <a:normAutofit/>
          </a:bodyPr>
          <a:lstStyle/>
          <a:p>
            <a:r>
              <a:rPr lang="zh-TW" altLang="en-US" dirty="0"/>
              <a:t>簡報大綱</a:t>
            </a:r>
            <a:endParaRPr kumimoji="1" lang="zh-TW" altLang="en-US" b="0" dirty="0">
              <a:solidFill>
                <a:schemeClr val="accent4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DEF149-9777-FBD8-FC9F-84FA8CFC2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776" y="2095946"/>
            <a:ext cx="7039404" cy="401529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公司簡介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目標市場需求評估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開發內容說明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無形資產引進與委託研究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競爭者分析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行銷策略規劃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獲利模式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3600" b="1" dirty="0">
                <a:solidFill>
                  <a:schemeClr val="tx1"/>
                </a:solidFill>
              </a:rPr>
              <a:t>預期效益說明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經費編列說明</a:t>
            </a:r>
          </a:p>
        </p:txBody>
      </p:sp>
    </p:spTree>
    <p:extLst>
      <p:ext uri="{BB962C8B-B14F-4D97-AF65-F5344CB8AC3E}">
        <p14:creationId xmlns:p14="http://schemas.microsoft.com/office/powerpoint/2010/main" val="1922175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F82AE-031D-99E4-57E2-455C28C3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C34FBD-C1B2-4F03-9F72-F06312828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預期效益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B2EF76-6E95-55A2-E8F0-8BB14DC8F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審議成本效益</a:t>
            </a:r>
            <a:endParaRPr lang="en-US" altLang="zh-TW" dirty="0"/>
          </a:p>
          <a:p>
            <a:pPr lvl="1"/>
            <a:r>
              <a:rPr lang="zh-TW" altLang="en-US" dirty="0"/>
              <a:t>北市都更處委託北市都更學會審議，每年</a:t>
            </a:r>
            <a:r>
              <a:rPr lang="en-US" altLang="zh-TW" dirty="0"/>
              <a:t>1200</a:t>
            </a:r>
            <a:r>
              <a:rPr lang="zh-TW" altLang="en-US" dirty="0"/>
              <a:t>萬約核定</a:t>
            </a:r>
            <a:r>
              <a:rPr lang="en-US" altLang="zh-TW" dirty="0"/>
              <a:t>40</a:t>
            </a:r>
            <a:r>
              <a:rPr lang="zh-TW" altLang="en-US" dirty="0"/>
              <a:t>案，平均每案人工審議費用</a:t>
            </a:r>
            <a:r>
              <a:rPr lang="en-US" altLang="zh-TW" dirty="0"/>
              <a:t>30</a:t>
            </a:r>
            <a:r>
              <a:rPr lang="zh-TW" altLang="en-US" dirty="0"/>
              <a:t>萬元。</a:t>
            </a:r>
            <a:endParaRPr lang="en-US" altLang="zh-TW" dirty="0"/>
          </a:p>
          <a:p>
            <a:pPr lvl="1"/>
            <a:r>
              <a:rPr lang="zh-TW" altLang="en-US" dirty="0"/>
              <a:t>北市現有 </a:t>
            </a:r>
            <a:r>
              <a:rPr lang="en-US" altLang="zh-TW" dirty="0"/>
              <a:t>(</a:t>
            </a:r>
            <a:r>
              <a:rPr lang="zh-TW" altLang="en-US" dirty="0"/>
              <a:t>統計至</a:t>
            </a:r>
            <a:r>
              <a:rPr lang="en-US" altLang="zh-TW" dirty="0"/>
              <a:t>2026</a:t>
            </a:r>
            <a:r>
              <a:rPr lang="zh-TW" altLang="en-US" dirty="0"/>
              <a:t>年</a:t>
            </a:r>
            <a:r>
              <a:rPr lang="en-US" altLang="zh-TW" dirty="0"/>
              <a:t>5</a:t>
            </a:r>
            <a:r>
              <a:rPr lang="zh-TW" altLang="en-US" dirty="0"/>
              <a:t>月</a:t>
            </a:r>
            <a:r>
              <a:rPr lang="en-US" altLang="zh-TW" dirty="0"/>
              <a:t>31</a:t>
            </a:r>
            <a:r>
              <a:rPr lang="zh-TW" altLang="en-US" dirty="0"/>
              <a:t>日</a:t>
            </a:r>
            <a:r>
              <a:rPr lang="en-US" altLang="zh-TW" dirty="0"/>
              <a:t>) </a:t>
            </a:r>
            <a:r>
              <a:rPr lang="zh-TW" altLang="en-US" dirty="0"/>
              <a:t>都更報核中</a:t>
            </a:r>
            <a:r>
              <a:rPr lang="en-US" altLang="zh-TW" dirty="0"/>
              <a:t>413</a:t>
            </a:r>
            <a:r>
              <a:rPr lang="zh-TW" altLang="en-US" dirty="0"/>
              <a:t>案，人工審議費用約需</a:t>
            </a:r>
            <a:r>
              <a:rPr lang="en-US" altLang="zh-TW" dirty="0"/>
              <a:t>1</a:t>
            </a:r>
            <a:r>
              <a:rPr lang="zh-TW" altLang="en-US" dirty="0"/>
              <a:t>億</a:t>
            </a:r>
            <a:r>
              <a:rPr lang="en-US" altLang="zh-TW" dirty="0"/>
              <a:t>2390</a:t>
            </a:r>
            <a:r>
              <a:rPr lang="zh-TW" altLang="en-US" dirty="0"/>
              <a:t>萬元。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審議時程效益</a:t>
            </a:r>
            <a:endParaRPr lang="en-US" altLang="zh-TW" dirty="0"/>
          </a:p>
          <a:p>
            <a:pPr lvl="1"/>
            <a:r>
              <a:rPr lang="zh-TW" altLang="en-US" dirty="0"/>
              <a:t>本案</a:t>
            </a:r>
            <a:r>
              <a:rPr lang="en-US" altLang="zh-TW" dirty="0"/>
              <a:t> (</a:t>
            </a:r>
            <a:r>
              <a:rPr lang="zh-TW" altLang="en-US" dirty="0"/>
              <a:t>第一期計畫：報核協審</a:t>
            </a:r>
            <a:r>
              <a:rPr lang="en-US" altLang="zh-TW" dirty="0"/>
              <a:t>) </a:t>
            </a:r>
            <a:r>
              <a:rPr lang="zh-TW" altLang="en-US" dirty="0"/>
              <a:t>完成後預估縮短審議時程</a:t>
            </a:r>
            <a:r>
              <a:rPr lang="en-US" altLang="zh-TW" dirty="0"/>
              <a:t>xx</a:t>
            </a:r>
            <a:r>
              <a:rPr lang="zh-TW" altLang="en-US" dirty="0"/>
              <a:t>日 </a:t>
            </a:r>
            <a:r>
              <a:rPr lang="en-US" altLang="zh-TW" dirty="0"/>
              <a:t>(</a:t>
            </a:r>
            <a:r>
              <a:rPr lang="zh-TW" altLang="en-US" dirty="0"/>
              <a:t>工作天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en-US" altLang="zh-TW" dirty="0"/>
              <a:t>(</a:t>
            </a:r>
            <a:r>
              <a:rPr lang="zh-TW" altLang="en-US" dirty="0"/>
              <a:t>第二期計畫：決議累積</a:t>
            </a:r>
            <a:r>
              <a:rPr lang="en-US" altLang="zh-TW" dirty="0"/>
              <a:t>)</a:t>
            </a:r>
            <a:r>
              <a:rPr lang="zh-TW" altLang="en-US" dirty="0"/>
              <a:t> 完成後預估縮短審議時程</a:t>
            </a:r>
            <a:r>
              <a:rPr lang="en-US" altLang="zh-TW" dirty="0"/>
              <a:t>xx</a:t>
            </a:r>
            <a:r>
              <a:rPr lang="zh-TW" altLang="en-US" dirty="0"/>
              <a:t>日 </a:t>
            </a:r>
            <a:r>
              <a:rPr lang="en-US" altLang="zh-TW" dirty="0"/>
              <a:t>(</a:t>
            </a:r>
            <a:r>
              <a:rPr lang="zh-TW" altLang="en-US" dirty="0"/>
              <a:t>工作天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en-US" altLang="zh-TW" dirty="0"/>
              <a:t>(</a:t>
            </a:r>
            <a:r>
              <a:rPr lang="zh-TW" altLang="en-US" dirty="0"/>
              <a:t>第三期計畫：個案動態管理</a:t>
            </a:r>
            <a:r>
              <a:rPr lang="en-US" altLang="zh-TW" dirty="0"/>
              <a:t>)</a:t>
            </a:r>
            <a:r>
              <a:rPr lang="zh-TW" altLang="en-US" dirty="0"/>
              <a:t> 完成後預估縮短審議時程</a:t>
            </a:r>
            <a:r>
              <a:rPr lang="en-US" altLang="zh-TW" dirty="0"/>
              <a:t>xx</a:t>
            </a:r>
            <a:r>
              <a:rPr lang="zh-TW" altLang="en-US" dirty="0"/>
              <a:t>日 </a:t>
            </a:r>
            <a:r>
              <a:rPr lang="en-US" altLang="zh-TW" dirty="0"/>
              <a:t>(</a:t>
            </a:r>
            <a:r>
              <a:rPr lang="zh-TW" altLang="en-US" dirty="0"/>
              <a:t>工作天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0894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1442-8201-2DAE-F7B9-EEA627176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3144F5-ABD9-8EA2-B187-3C93D3B7A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776" y="746760"/>
            <a:ext cx="7039404" cy="1040091"/>
          </a:xfrm>
        </p:spPr>
        <p:txBody>
          <a:bodyPr>
            <a:normAutofit/>
          </a:bodyPr>
          <a:lstStyle/>
          <a:p>
            <a:r>
              <a:rPr lang="zh-TW" altLang="en-US" dirty="0"/>
              <a:t>簡報大綱</a:t>
            </a:r>
            <a:endParaRPr kumimoji="1" lang="zh-TW" altLang="en-US" b="0" dirty="0">
              <a:solidFill>
                <a:schemeClr val="accent4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38C065-E51C-BF0F-9788-1C5CB25C1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776" y="2095946"/>
            <a:ext cx="7039404" cy="401529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公司簡介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目標市場需求評估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開發內容說明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無形資產引進與委託研究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競爭者分析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行銷策略規劃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獲利模式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1800" b="1" dirty="0">
                <a:solidFill>
                  <a:schemeClr val="bg1">
                    <a:lumMod val="75000"/>
                  </a:schemeClr>
                </a:solidFill>
              </a:rPr>
              <a:t>預期效益說明</a:t>
            </a:r>
          </a:p>
          <a:p>
            <a:pPr marL="342900" indent="-342900">
              <a:lnSpc>
                <a:spcPct val="100000"/>
              </a:lnSpc>
              <a:buFont typeface="+mj-ea"/>
              <a:buAutoNum type="ea1ChtPeriod"/>
            </a:pPr>
            <a:r>
              <a:rPr kumimoji="1" lang="zh-TW" altLang="en-US" sz="3600" b="1" dirty="0">
                <a:solidFill>
                  <a:schemeClr val="tx1"/>
                </a:solidFill>
              </a:rPr>
              <a:t>經費編列說明</a:t>
            </a:r>
          </a:p>
        </p:txBody>
      </p:sp>
    </p:spTree>
    <p:extLst>
      <p:ext uri="{BB962C8B-B14F-4D97-AF65-F5344CB8AC3E}">
        <p14:creationId xmlns:p14="http://schemas.microsoft.com/office/powerpoint/2010/main" val="15219061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92FD6-851F-6EDA-6AA0-D4142FBE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0E5F41-BC41-05EF-6B59-D7BF29DB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經費編列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2E068D-1DB7-401D-32AE-56A368A0A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15446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653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1897</Words>
  <Application>Microsoft Office PowerPoint</Application>
  <PresentationFormat>寬螢幕</PresentationFormat>
  <Paragraphs>258</Paragraphs>
  <Slides>34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41" baseType="lpstr">
      <vt:lpstr>Microsoft JhengHei</vt:lpstr>
      <vt:lpstr>Microsoft JhengHei</vt:lpstr>
      <vt:lpstr>Aptos</vt:lpstr>
      <vt:lpstr>Aptos Display</vt:lpstr>
      <vt:lpstr>Arial</vt:lpstr>
      <vt:lpstr>Wingdings</vt:lpstr>
      <vt:lpstr>Office 佈景主題</vt:lpstr>
      <vt:lpstr>AI創新服務研發補助計畫 以 LLM Wiki 與 AI多代理協作 輔助都市更新計劃書報核審議 (第一期計畫)</vt:lpstr>
      <vt:lpstr>AI創新服務研發補助計畫 以 LLM Wiki 與 AI多代理協作 輔助都市更新計劃書報核審議 (第一期計畫)</vt:lpstr>
      <vt:lpstr>關於  慧影科技</vt:lpstr>
      <vt:lpstr>簡報大綱</vt:lpstr>
      <vt:lpstr>簡報大綱</vt:lpstr>
      <vt:lpstr>專案團隊</vt:lpstr>
      <vt:lpstr>簡報大綱</vt:lpstr>
      <vt:lpstr>都更作業四大階段 資料來源：永德國際開發建設 (https://utek.com.tw/index.php/the-process)</vt:lpstr>
      <vt:lpstr>全國都市更新統計成果 資料來源：都市更新入口網 (https://twur.nlma.gov.tw/zh/urban/statistics)</vt:lpstr>
      <vt:lpstr>臺北市近五年都市更新案件統計 資料來源：都市更新入口網 (https://twur.nlma.gov.tw/zh/urban/statistics/view/18)</vt:lpstr>
      <vt:lpstr>新北市近五年都市更新案件統計 資料來源：都市更新入口網 (https://twur.nlma.gov.tw/zh/urban/statistics/view/18)</vt:lpstr>
      <vt:lpstr>臺北市都市更新程序 資料來源：臺北市都市更新處  (https://uro.gov.taipei/News_Content.aspx?n=5E79553CBBAE8DFB&amp;sms=87415A8B9CE81B16&amp;s=D2FD2716F001C256)</vt:lpstr>
      <vt:lpstr>AI輔助都市更新流程 資料來源：耕建築 (https://www.in-life.com.tw/都市更新懶人包10分鐘弄懂都更/)</vt:lpstr>
      <vt:lpstr>都更審議長年痛點</vt:lpstr>
      <vt:lpstr>簡報大綱</vt:lpstr>
      <vt:lpstr>本案開發計劃</vt:lpstr>
      <vt:lpstr>三(年)期後續開發規劃</vt:lpstr>
      <vt:lpstr>關鍵AI技術採用</vt:lpstr>
      <vt:lpstr>都更處報核協審 - 代理式工作流程</vt:lpstr>
      <vt:lpstr>跨單位 AI 多代理協作流程&lt;第三(年)期&gt;</vt:lpstr>
      <vt:lpstr>AI 邊界與爭議處理</vt:lpstr>
      <vt:lpstr>簡報大綱</vt:lpstr>
      <vt:lpstr>無形資產引進與委託研究</vt:lpstr>
      <vt:lpstr>簡報大綱</vt:lpstr>
      <vt:lpstr>競爭者分析</vt:lpstr>
      <vt:lpstr>簡報大綱</vt:lpstr>
      <vt:lpstr>行銷策略規劃</vt:lpstr>
      <vt:lpstr>簡報大綱</vt:lpstr>
      <vt:lpstr>獲利模式</vt:lpstr>
      <vt:lpstr>簡報大綱</vt:lpstr>
      <vt:lpstr>預期效益</vt:lpstr>
      <vt:lpstr>簡報大綱</vt:lpstr>
      <vt:lpstr>經費編列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施漢林Salin Shih</dc:creator>
  <cp:lastModifiedBy>Jimmy Chou</cp:lastModifiedBy>
  <cp:revision>81</cp:revision>
  <dcterms:created xsi:type="dcterms:W3CDTF">2025-12-04T09:18:23Z</dcterms:created>
  <dcterms:modified xsi:type="dcterms:W3CDTF">2026-07-21T07:18:55Z</dcterms:modified>
</cp:coreProperties>
</file>